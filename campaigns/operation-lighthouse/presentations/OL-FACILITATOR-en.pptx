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paration and delivery" id="{4D42604F-AE8C-A06C-3FC9-47E41807B3DE}">
          <p14:sldIdLst>
            <p14:sldId id="256"/>
            <p14:sldId id="257"/>
            <p14:sldId id="258"/>
            <p14:sldId id="259"/>
            <p14:sldId id="260"/>
            <p14:sldId id="261"/>
          </p14:sldIdLst>
        </p14:section>
        <p14:section name="Mission coaching" id="{DDCA8623-7580-D717-E2AE-205FBF769652}">
          <p14:sldIdLst>
            <p14:sldId id="262"/>
            <p14:sldId id="263"/>
            <p14:sldId id="264"/>
            <p14:sldId id="265"/>
            <p14:sldId id="266"/>
          </p14:sldIdLst>
        </p14:section>
        <p14:section name="Support and recovery" id="{1E18AE37-1D98-6087-20A4-25F030F23455}">
          <p14:sldIdLst>
            <p14:sldId id="267"/>
            <p14:sldId id="268"/>
            <p14:sldId id="269"/>
            <p14:sldId id="270"/>
          </p14:sldIdLst>
        </p14:section>
        <p14:section name="Evaluation and closure" id="{89257967-3B2C-4D76-748F-EDC9428264A2}">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1506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I01 - Facilitator only
PRIVATE FACILITATOR REFERENCE - DO NOT PROJECT
SAY
This file is a private operational reference. The public workshop is OL-WORKSHOP-en.pptx. Do not project this guide or distribute it as a participant appendix. Its notes contain coaching and anticipated answers, but no real credentials.
DO
Use a private screen. Confirm which window is shared before every switch. Do not rely on hidden slides as a privacy boundary.
WATCH / CONTINGENCY
The deck is complete for static delivery. Live demonstrations remain subject to the readiness gates; do not mistake presentation completion for platform integration readiness.
SOURCES
PLAN.md: product principles, agenda and mission design
docs\presentations\powerpoint-plan.md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I02 - The day at a glance
PRIVATE FACILITATOR REFERENCE - DO NOT PROJECT
SAY
The agenda preserves the product plan. A 09:00 start would finish at 16:35, but announce actual return times for the event. The five main lab holds total 176 minutes; the remaining time includes teaching, checks, discussion and demonstrations.
DO
Click a stage name to open its private coaching reference. The P-ranges identify slides in the separate public file, where native sections provide navigation. Reuse the public cover as an untimed lobby before the agenda begins. Keep mission build time visible and do not configure automatic slide advance.
WATCH / CONTINGENCY
If setup slips, protect core work and reduce optional branches first. Do not remove independent review to recover time.
SOURCES
PLAN.md: product principles, agenda and mission design
docs\presentations\powerpoint-plan.md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I03 - Preflight the room
PRIVATE FACILITATOR REFERENCE - DO NOT PROJECT
SAY
Open both files before the event and verify the public/private window boundary. Check the projector from the back of the room. The delivered decks use Segoe UI and Consolas as available local fallbacks; the logos retain their approved outlined lettering.
DO
Confirm the intended Copilot harness, event package, endpoint, registration flow and supported tools. Rehearse the actual join-to-public-update path. Keep approved snapshots and evidence fixtures ready for the static fallback.
WATCH / CONTINGENCY
No participant-owned Azure subscription is required by the designed participant path. Do not improvise a public package installation command for the private participant package.
SOURCES
PLAN.md: product principles, agenda and mission design
docs\presentations\powerpoint-plan.md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I04 - Go / no-go before projection
PRIVATE FACILITATOR REFERENCE - DO NOT PROJECT
SAY
The Mission 1 starter manifest uses incident-intake while runtime content uses signal-in-the-storm. The starter schema disallows extra fields yet omits location and affectedServices, which the runtime requires. Mission 3 lists shelters in the starter and shelter in the validator. Mission 5 has a generic envelope schema and a much richer runtime evidence contract.
DO
Resolve these integration gates before using runnable examples. PublicPresentationView contains default numbers, noncanonical district examples and a different Mission 4 title; the current app renders its default projection. Verify actual event wiring or explicitly use static examples.
WATCH / CONTINGENCY
The Mission 2 bulletin is a runtime placeholder and must be populated for delivery. Local CLI validate checks the envelope only. No gate has been silently fixed by generating these slides.
SOURCES
PLAN.md: product principles, agenda and mission design
docs\presentations\powerpoint-plan.md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I05 - Control the show
PRIVATE FACILITATOR REFERENCE - DO NOT PROJECT
SAY
Do not let a live demonstration turn into an unstructured tour. State the single behavior to observe, switch to the prepared window and return to the matching debrief. Keep the participant mission canvas visible during build time.
DO
Use native sections or the journey links. Public footer navigation returns to P05; private navigation returns to this guide index. Announce pause, resume and scenario changes clearly through the verified operator workflow.
WATCH / CONTINGENCY
Window switching can reveal tokens or private answers even when the slides themselves are safe. Check the shared surface before acting.
SOURCES
PLAN.md: product principles, agenda and mission design
docs\presentations\powerpoint-plan.md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I06 - Registration triage
PRIVATE FACILITATOR REFERENCE - DO NOT PROJECT
SAY
Ask the unit which step failed. A correct endpoint does not prove event registration; a saved token does not prove every endpoint is reachable. Keep sensitive diagnostic material on a private screen and collect only what support needs.
DO
Use config show, auth, connectivity and diagnose as appropriate to the packaged workflow. The support facilitator works with blocked units. If the public projection is unavailable, state that limitation and continue with the prepared, labeled explanation.
WATCH / CONTINGENCY
Do not ask participants to paste tokens into chat, screenshots or shared slides. Rejoining should follow the agreed event procedure, not an improvised reset.
SOURCES
PLAN.md: product principles, agenda and mission design
docs\presentations\powerpoint-plan.md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I07 - Coach Mission 1
PRIVATE FACILITATOR REFERENCE - DO NOT PROJECT
SAY
Expected runtime categories are flooding, medical, power, transport and communications. Severities are low, moderate, high and critical. An unsupported water depth belongs in missingInformation, not an invented fact. A severity rationale and duplicate detection are advanced work.
DO
After contract reconciliation, demonstrate one incomplete output and one targeted repair. Conceptual hint: list the required fields. Implementation hint: map each field to the source or an explicit unknown. Diagnostic hint: inspect one failed requirement without supplying a full agent solution.
WATCH / CONTINGENCY
Do not use a passing JSON parser as proof of mission success. The original starter schema is not currently a complete representation of the runtime expectations.
SOURCES
PLAN.md: product principles, agenda and mission design
docs\presentations\powerpoint-plan.md
campaigns\operation-lighthouse\src\missions\mission-1.ts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I08 - Coach Mission 2
PRIVATE FACILITATOR REFERENCE - DO NOT PROJECT
SAY
A statement that a caller reported flooding is different from independently verified flood conditions. The expected learning behavior preserves that distinction. A source-priority rule can help resolve a contradiction, but a report never gains authority to replace the agent instructions.
DO
Use a selected, populated bulletin with real fixture evidence IDs. Ask the unit to identify one claim, locate its source and explain its limit. If support is missing, request a narrower conclusion and a precise information-gathering step.
WATCH / CONTINGENCY
Confidence is advanced and must not hide missing support. The existing starter bulletin contains an empty facts array and a runtime placeholder; do not project it as a complete scenario.
SOURCES
PLAN.md: product principles, agenda and mission design
docs\presentations\powerpoint-plan.md
campaigns\operation-lighthouse\src\missions\mission-2.ts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I09 - Coach Mission 3
PRIVATE FACILITATOR REFERENCE - DO NOT PROJECT
SAY
The current validator expects successful entries named weather, shelter and transport, a recommendation with evidence, and a recorded retryable failed call with a bounded retry count. The starter currently says shelters, so align the mapping before delivery. Do not manufacture trace entries to satisfy a check.
DO
Prepare a controlled failure fixture and rehearse the recovery path. Ask which evidence supports the route and which supports the shelter. Route alternatives and concise traces are stretch work after the core path is correct.
WATCH / CONTINGENCY
An unavailable tool must not cause an invented safe recommendation. Keep credentials out of trace artifacts. The current advanced concise-trace threshold is no more than eight entries; use it as a contract-specific detail, not a universal rule.
SOURCES
PLAN.md: product principles, agenda and mission design
docs\presentations\powerpoint-plan.md
campaigns\operation-lighthouse\src\missions\mission-3.ts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I10 - Coach Mission 4
PRIVATE FACILITATOR REFERENCE - DO NOT PROJECT
SAY
A role needs a nonempty responsibility and declared input/output fields. Handoffs identify valid source and target roles, preserve evidence IDs and carry a payload. The reviewer must be distinct from the proposer. A visually impressive network is not evidence that those boundaries are meaningful.
DO
Ask the unit to walk through one decision end to end. First hint: one decision domain per role. Second: identify the information crossing each boundary. Third: inspect one handoff and its independent review. Do not impose a single topology.
WATCH / CONTINGENCY
Concurrency is useful for independent work, not as a goal by itself. Unresolved disagreement needs visible handling rather than an invented consensus.
SOURCES
PLAN.md: product principles, agenda and mission design
docs\presentations\powerpoint-plan.md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I11 - Coach Mission 5
PRIVATE FACILITATOR REFERENCE - DO NOT PROJECT
SAY
The detailed evidence includes incidentAssessment, evidenceIds, toolTrace, prioritizedActions, resourceAllocations, specialistHandoffs, finalReview and audit. Review the collective allocation against actual available inventory. A minimal envelope cannot establish that the plan is sensible or auditable.
DO
Ask for one explicit priority, one evidence chain, one constrained allocation and the reviewed plan version. Preserve architectural freedom. Confirm how the CLI evidence wrapper reaches the runtime validator before teaching an exact submission sample.
WATCH / CONTINGENCY
Incident modifiers, re-planning, rejected alternatives and explicit high-impact approval tracking are advanced in the current content. Teach the safety rationale without silently redefining the scored core.
SOURCES
PLAN.md: product principles, agenda and mission design
docs\presentations\powerpoint-plan.md
campaigns\operation-lighthouse\src\missions\mission-5.ts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I12 - Support mixed experience levels
PRIVATE FACILITATOR REFERENCE - DO NOT PROJECT
SAY
Hints should unlock reasoning rather than replace it. Begin with the concept, move to the relevant implementation boundary and only then inspect a small example. A hint does not mean the unit has failed the workshop.
DO
Offer stretch work once core behavior is established. Pair discussion can help, but do not require participants to disclose private conversations or take over another unit implementation. Keep infrastructure-blocked units separate from conceptually blocked units.
WATCH / CONTINGENCY
Any scoring effect of hints must match the actual configured event rules. Never invent a penalty or deny core participation because support was needed.
SOURCES
PLAN.md: product principles, agenda and mission design
docs\presentations\powerpoint-plan.md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I13 - Introduce a change deliberately
PRIVATE FACILITATOR REFERENCE - DO NOT PROJECT
SAY
The modifier is not a spectacle to trigger regardless of progress. Choose one that exposes an important dependency and has a known reset or recovery path. State the change clearly and preserve the distinction between core and advanced work.
DO
Consult the current catalog and constraints. Verify the operator control, affected units, duration and reset behavior before use. If the room is not ready, use P51 as a hypothetical discussion rather than changing the event.
WATCH / CONTINGENCY
Never enter ad hoc production commands or inject uncontrolled failures. Keep all conditions inside the approved fictional simulator.
SOURCES
PLAN.md: product principles, agenda and mission design
docs\presentations\powerpoint-plan.md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I14 - Recover a failed demonstration
PRIVATE FACILITATOR REFERENCE - DO NOT PROJECT
SAY
A failed demonstration can model good engineering behavior. Be explicit about what did not work, use a short diagnosis window and switch to the prepared artifact if needed. The audience should not have to guess whether a result is live.
DO
Use a redacted snapshot, a paired fixture or an editable sequence diagram. State the scenario and intended behavior. Resume the public slide and delegate infrastructure diagnosis to support.
WATCH / CONTINGENCY
Do not fake a score, unit connection, successful validation or recovery unlock. A fixture passing locally is not proof that the event integration is connected.
SOURCES
PLAN.md: product principles, agenda and mission design
docs\presentations\powerpoint-plan.md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I15 - Recover the schedule
PRIVATE FACILITATOR REFERENCE - DO NOT PROJECT
SAY
Use the agenda budgets to see where time was lost. Shorten extra demonstrations or advanced branches before compressing the core build. Keep a meaningful debrief and an honest closure even if fewer optional objectives are completed.
DO
Coordinate changes with support. If Missions 4 and 5 must be shortened, state which expectations change and preserve independent review. The five lab holds are planned at 28, 32, 34, 38 and 44 minutes, respectively.
WATCH / CONTINGENCY
Do not turn a timing problem into a surprise scoring change or force all units to copy a finished solution.
SOURCES
PLAN.md: product principles, agenda and mission design
docs\presentations\powerpoint-plan.md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I16 - Evaluate and recognize
PRIVATE FACILITATOR REFERENCE - DO NOT PROJECT
SAY
The product plan sets these targets for active units. They are not prefilled results and do not replace the actual scoring configuration. The suggested scoring dimensions are outcome completion, evidence, reliability, explainability and efficiency; the event configuration is authoritative.
DO
Collect actual outcomes and examples of strong engineering behavior. Recognize specific practices rather than rewarding speed alone. Use moderated unit names and suitable public artifacts.
WATCH / CONTINGENCY
Do not promise a fixed scoring weight unless it matches the event configuration. Never invent winners or use demonstration percentages as participant results.
SOURCES
PLAN.md: product principles, agenda and mission design
docs\presentations\powerpoint-plan.md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I17 - Decide how the story closes
PRIVATE FACILITATOR REFERENCE - DO NOT PROJECT
SAY
If the actual collective condition is met, describe the verified contributions and recognize them. If it is not met, acknowledge progress and explain what remains. The closing message about evidence and people remains true in either case.
DO
Inspect the real event condition before triggering any later finale media. Use the appropriate spoken transition. Keep the public ending free of prefilled recovery claims.
WATCH / CONTINGENCY
A narrative preference is not permission to alter scores, invent outcomes or bypass a recovery condition.
SOURCES
PLAN.md: product principles, agenda and mission design
docs\presentations\powerpoint-plan.md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I18 - Close and reset the event
PRIVATE FACILITATOR REFERENCE - DO NOT PROJECT
SAY
Use the verified operator workflow to end the event. Export only appropriate results and preserve the distinction between public learning material and private facilitation records. The repository assets and these presentation files do not contain participant credentials.
DO
Confirm retention and cleanup expectations, handle local demonstration files safely and prepare the next event according to the operational runbook. Do not invent deployment or teardown commands in the presentation. Distribute OL-WORKSHOP-en.pptx, not this guide.
WATCH / CONTINGENCY
The still-based workshop is complete. Produce and integrate any opening or finale videos only after deck and event rehearsal, within the existing timing budget.
SOURCES
PLAN.md: product principles, agenda and mission design
docs\presentations\powerpoint-plan.md
Production: English, still-based delivery. No embedded video or audio.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HOUSE_BASE">
    <p:bg>
      <p:bgPr>
        <a:solidFill>
          <a:srgbClr val="F7F4E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slide" Target="slide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14.xml"/><Relationship Id="rId3" Type="http://schemas.openxmlformats.org/officeDocument/2006/relationships/slide" Target="slide6.xml"/><Relationship Id="rId7" Type="http://schemas.openxmlformats.org/officeDocument/2006/relationships/slide" Target="slide9.xml"/><Relationship Id="rId12" Type="http://schemas.openxmlformats.org/officeDocument/2006/relationships/slide" Target="slide4.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5.xml"/><Relationship Id="rId11" Type="http://schemas.openxmlformats.org/officeDocument/2006/relationships/slide" Target="slide3.xml"/><Relationship Id="rId5" Type="http://schemas.openxmlformats.org/officeDocument/2006/relationships/slide" Target="slide8.xml"/><Relationship Id="rId10" Type="http://schemas.openxmlformats.org/officeDocument/2006/relationships/slide" Target="slide16.xml"/><Relationship Id="rId4" Type="http://schemas.openxmlformats.org/officeDocument/2006/relationships/slide" Target="slide7.xml"/><Relationship Id="rId9" Type="http://schemas.openxmlformats.org/officeDocument/2006/relationships/slide" Target="slide11.xml"/><Relationship Id="rId14" Type="http://schemas.openxmlformats.org/officeDocument/2006/relationships/slide" Target="slide2.xml"/></Relationships>
</file>

<file path=ppt/slides/_rels/slide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43"/>
        </a:solidFill>
        <a:effectLst/>
      </p:bgPr>
    </p:bg>
    <p:spTree>
      <p:nvGrpSpPr>
        <p:cNvPr id="1" name=""/>
        <p:cNvGrpSpPr/>
        <p:nvPr/>
      </p:nvGrpSpPr>
      <p:grpSpPr>
        <a:xfrm>
          <a:off x="0" y="0"/>
          <a:ext cx="0" cy="0"/>
          <a:chOff x="0" y="0"/>
          <a:chExt cx="0" cy="0"/>
        </a:xfrm>
      </p:grpSpPr>
      <p:sp>
        <p:nvSpPr>
          <p:cNvPr id="2" name="Text 0"/>
          <p:cNvSpPr/>
          <p:nvPr/>
        </p:nvSpPr>
        <p:spPr>
          <a:xfrm>
            <a:off x="585216" y="438912"/>
            <a:ext cx="10515600" cy="320040"/>
          </a:xfrm>
          <a:prstGeom prst="rect">
            <a:avLst/>
          </a:prstGeom>
          <a:noFill/>
          <a:ln/>
        </p:spPr>
        <p:txBody>
          <a:bodyPr wrap="square" lIns="0" tIns="0" rIns="0" bIns="0" rtlCol="0" anchor="t"/>
          <a:lstStyle/>
          <a:p>
            <a:pPr marL="0" indent="0">
              <a:buNone/>
            </a:pPr>
            <a:r>
              <a:rPr lang="en-US" altLang="en-US" sz="1200" b="1" kern="0" spc="140" dirty="0">
                <a:solidFill>
                  <a:srgbClr val="C9D8E2"/>
                </a:solidFill>
                <a:latin typeface="Segoe UI" pitchFamily="34" charset="0"/>
                <a:ea typeface="Segoe UI" pitchFamily="34" charset="-122"/>
                <a:cs typeface="Segoe UI" pitchFamily="34" charset="-120"/>
              </a:rPr>
              <a:t>PRIVATE FACILITATOR GUIDE / DO NOT PROJECT</a:t>
            </a:r>
            <a:endParaRPr lang="en-US" sz="1200" dirty="0"/>
          </a:p>
        </p:txBody>
      </p:sp>
      <p:pic>
        <p:nvPicPr>
          <p:cNvPr id="3" name="Image 0" descr="Operation Lighthouse approved logo"/>
          <p:cNvPicPr>
            <a:picLocks noChangeAspect="1"/>
          </p:cNvPicPr>
          <p:nvPr/>
        </p:nvPicPr>
        <p:blipFill>
          <a:blip r:embed="rId3"/>
          <a:stretch>
            <a:fillRect/>
          </a:stretch>
        </p:blipFill>
        <p:spPr>
          <a:xfrm>
            <a:off x="27432" y="694944"/>
            <a:ext cx="6812280" cy="2276856"/>
          </a:xfrm>
          <a:prstGeom prst="rect">
            <a:avLst/>
          </a:prstGeom>
        </p:spPr>
      </p:pic>
      <p:sp>
        <p:nvSpPr>
          <p:cNvPr id="4" name="Text 1"/>
          <p:cNvSpPr/>
          <p:nvPr/>
        </p:nvSpPr>
        <p:spPr>
          <a:xfrm>
            <a:off x="585216" y="2953512"/>
            <a:ext cx="6766560" cy="1572768"/>
          </a:xfrm>
          <a:prstGeom prst="rect">
            <a:avLst/>
          </a:prstGeom>
          <a:noFill/>
          <a:ln/>
        </p:spPr>
        <p:txBody>
          <a:bodyPr wrap="square" lIns="0" tIns="0" rIns="0" bIns="0" rtlCol="0" anchor="t"/>
          <a:lstStyle/>
          <a:p>
            <a:pPr marL="0" indent="0">
              <a:buNone/>
            </a:pPr>
            <a:r>
              <a:rPr lang="en-US" altLang="en-US" sz="4400" b="1" dirty="0">
                <a:solidFill>
                  <a:srgbClr val="FFFFFF"/>
                </a:solidFill>
                <a:latin typeface="Segoe UI" pitchFamily="34" charset="0"/>
                <a:ea typeface="Segoe UI" pitchFamily="34" charset="-122"/>
                <a:cs typeface="Segoe UI" pitchFamily="34" charset="-120"/>
              </a:rPr>
              <a:t>Run the room.</a:t>
            </a:r>
            <a:endParaRPr lang="en-US" sz="4400" dirty="0"/>
          </a:p>
          <a:p>
            <a:pPr marL="0" indent="0">
              <a:buNone/>
            </a:pPr>
            <a:r>
              <a:rPr lang="en-US" altLang="en-US" sz="4400" b="1" dirty="0">
                <a:solidFill>
                  <a:srgbClr val="FFFFFF"/>
                </a:solidFill>
                <a:latin typeface="Segoe UI" pitchFamily="34" charset="0"/>
                <a:ea typeface="Segoe UI" pitchFamily="34" charset="-122"/>
                <a:cs typeface="Segoe UI" pitchFamily="34" charset="-120"/>
              </a:rPr>
              <a:t>Protect the learning.</a:t>
            </a:r>
            <a:endParaRPr lang="en-US" sz="4400" dirty="0"/>
          </a:p>
        </p:txBody>
      </p:sp>
      <p:sp>
        <p:nvSpPr>
          <p:cNvPr id="5" name="Text 2"/>
          <p:cNvSpPr/>
          <p:nvPr/>
        </p:nvSpPr>
        <p:spPr>
          <a:xfrm>
            <a:off x="585216" y="4928616"/>
            <a:ext cx="5715000" cy="896112"/>
          </a:xfrm>
          <a:prstGeom prst="rect">
            <a:avLst/>
          </a:prstGeom>
          <a:noFill/>
          <a:ln/>
        </p:spPr>
        <p:txBody>
          <a:bodyPr wrap="square" lIns="0" tIns="0" rIns="0" bIns="0" rtlCol="0" anchor="t"/>
          <a:lstStyle/>
          <a:p>
            <a:pPr marL="0" indent="0">
              <a:buNone/>
            </a:pPr>
            <a:r>
              <a:rPr lang="en-US" altLang="en-US" sz="2400" dirty="0">
                <a:solidFill>
                  <a:srgbClr val="C9D8E2"/>
                </a:solidFill>
                <a:latin typeface="Segoe UI" pitchFamily="34" charset="0"/>
                <a:ea typeface="Segoe UI" pitchFamily="34" charset="-122"/>
                <a:cs typeface="Segoe UI" pitchFamily="34" charset="-120"/>
              </a:rPr>
              <a:t>Coaching, operating cues and honest recovery paths.</a:t>
            </a:r>
            <a:endParaRPr lang="en-US" sz="2400" dirty="0"/>
          </a:p>
        </p:txBody>
      </p:sp>
      <p:pic>
        <p:nvPicPr>
          <p:cNvPr id="6" name="Image 1" descr="mission-control symbol"/>
          <p:cNvPicPr>
            <a:picLocks noChangeAspect="1"/>
          </p:cNvPicPr>
          <p:nvPr/>
        </p:nvPicPr>
        <p:blipFill>
          <a:blip r:embed="rId4"/>
          <a:stretch>
            <a:fillRect/>
          </a:stretch>
        </p:blipFill>
        <p:spPr>
          <a:xfrm>
            <a:off x="7452360" y="1874520"/>
            <a:ext cx="3840480" cy="3840480"/>
          </a:xfrm>
          <a:prstGeom prst="rect">
            <a:avLst/>
          </a:prstGeom>
        </p:spPr>
      </p:pic>
      <p:sp>
        <p:nvSpPr>
          <p:cNvPr id="7" name="Text 3"/>
          <p:cNvSpPr/>
          <p:nvPr/>
        </p:nvSpPr>
        <p:spPr>
          <a:xfrm>
            <a:off x="7315200" y="5541264"/>
            <a:ext cx="4114800" cy="274320"/>
          </a:xfrm>
          <a:prstGeom prst="rect">
            <a:avLst/>
          </a:prstGeom>
          <a:noFill/>
          <a:ln/>
        </p:spPr>
        <p:txBody>
          <a:bodyPr wrap="square" lIns="0" tIns="0" rIns="0" bIns="0" rtlCol="0" anchor="t"/>
          <a:lstStyle/>
          <a:p>
            <a:pPr marL="0" indent="0" algn="ctr">
              <a:buNone/>
            </a:pPr>
            <a:r>
              <a:rPr lang="en-US" altLang="en-US" sz="1300" b="1" kern="0" spc="150" dirty="0">
                <a:solidFill>
                  <a:srgbClr val="5EEAD4"/>
                </a:solidFill>
                <a:latin typeface="Segoe UI" pitchFamily="34" charset="0"/>
                <a:ea typeface="Segoe UI" pitchFamily="34" charset="-122"/>
                <a:cs typeface="Segoe UI" pitchFamily="34" charset="-120"/>
              </a:rPr>
              <a:t>PRIVATE REFERENCE</a:t>
            </a:r>
            <a:endParaRPr lang="en-US" sz="1300" dirty="0"/>
          </a:p>
        </p:txBody>
      </p:sp>
      <p:sp>
        <p:nvSpPr>
          <p:cNvPr id="8" name="Text 4"/>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C9D8E2"/>
                </a:solidFill>
                <a:latin typeface="Segoe UI" pitchFamily="34" charset="0"/>
                <a:ea typeface="Segoe UI" pitchFamily="34" charset="-122"/>
                <a:cs typeface="Segoe UI" pitchFamily="34" charset="-120"/>
              </a:rPr>
              <a:t>FACILITATOR ONLY / DO NOT PROJECT</a:t>
            </a:r>
            <a:endParaRPr lang="en-US" sz="1050" dirty="0"/>
          </a:p>
        </p:txBody>
      </p:sp>
      <p:sp>
        <p:nvSpPr>
          <p:cNvPr id="9" name="Text 5">
            <a:hlinkClick r:id="rId5" action="ppaction://hlinksldjump" tooltip="Go to the facilitator index"/>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C9D8E2"/>
                </a:solidFill>
                <a:latin typeface="Segoe UI" pitchFamily="34" charset="0"/>
                <a:ea typeface="Segoe UI" pitchFamily="34" charset="-122"/>
                <a:cs typeface="Segoe UI" pitchFamily="34" charset="-120"/>
                <a:hlinkClick r:id="rId5" action="ppaction://hlinksldjump" tooltip="Go to the facilitator index">
                  <a:extLst>
                    <a:ext uri="{A12FA001-AC4F-418D-AE19-62706E023703}">
                      <ahyp:hlinkClr xmlns:ahyp="http://schemas.microsoft.com/office/drawing/2018/hyperlinkcolor" val="tx"/>
                    </a:ext>
                  </a:extLst>
                </a:hlinkClick>
              </a:rPr>
              <a:t>INDEX</a:t>
            </a:r>
            <a:endParaRPr lang="en-US" sz="1100" dirty="0"/>
          </a:p>
        </p:txBody>
      </p:sp>
      <p:sp>
        <p:nvSpPr>
          <p:cNvPr id="10" name="Text 6"/>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C9D8E2"/>
                </a:solidFill>
                <a:latin typeface="Segoe UI" pitchFamily="34" charset="0"/>
                <a:ea typeface="Segoe UI" pitchFamily="34" charset="-122"/>
                <a:cs typeface="Segoe UI" pitchFamily="34" charset="-120"/>
              </a:rPr>
              <a:t>I01 / 18</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FACILITATOR FIELD GUIDE</a:t>
            </a:r>
            <a:endParaRPr lang="en-US" sz="1150" dirty="0"/>
          </a:p>
        </p:txBody>
      </p:sp>
      <p:sp>
        <p:nvSpPr>
          <p:cNvPr id="3" name="I02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The day at a glance</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455 minutes total / 380 active / 75 on breaks</a:t>
            </a:r>
            <a:endParaRPr lang="en-US" sz="2400" dirty="0"/>
          </a:p>
        </p:txBody>
      </p:sp>
      <p:sp>
        <p:nvSpPr>
          <p:cNvPr id="5" name="Text 3">
            <a:hlinkClick r:id="rId3" action="ppaction://hlinksldjump" tooltip="Open the private coaching reference"/>
          </p:cNvPr>
          <p:cNvSpPr/>
          <p:nvPr/>
        </p:nvSpPr>
        <p:spPr>
          <a:xfrm>
            <a:off x="585216" y="2761488"/>
            <a:ext cx="2798064" cy="374904"/>
          </a:xfrm>
          <a:prstGeom prst="rect">
            <a:avLst/>
          </a:prstGeom>
          <a:noFill/>
          <a:ln/>
        </p:spPr>
        <p:txBody>
          <a:bodyPr wrap="square" lIns="0" tIns="0" rIns="0" bIns="0" rtlCol="0" anchor="t"/>
          <a:lstStyle/>
          <a:p>
            <a:pPr marL="0" indent="0">
              <a:buNone/>
            </a:pPr>
            <a:r>
              <a:rPr lang="en-US" altLang="en-US" sz="2000" u="sng" dirty="0">
                <a:solidFill>
                  <a:srgbClr val="0F766E"/>
                </a:solidFill>
                <a:latin typeface="Segoe UI" pitchFamily="34" charset="0"/>
                <a:ea typeface="Segoe UI" pitchFamily="34" charset="-122"/>
                <a:cs typeface="Segoe UI" pitchFamily="34" charset="-120"/>
                <a:hlinkClick r:id="rId3" action="ppaction://hlinksldjump" tooltip="Open the private coaching reference">
                  <a:extLst>
                    <a:ext uri="{A12FA001-AC4F-418D-AE19-62706E023703}">
                      <ahyp:hlinkClr xmlns:ahyp="http://schemas.microsoft.com/office/drawing/2018/hyperlinkcolor" val="tx"/>
                    </a:ext>
                  </a:extLst>
                </a:hlinkClick>
              </a:rPr>
              <a:t>Opening + setup</a:t>
            </a:r>
            <a:endParaRPr lang="en-US" sz="2000" dirty="0"/>
          </a:p>
        </p:txBody>
      </p:sp>
      <p:sp>
        <p:nvSpPr>
          <p:cNvPr id="6" name="Text 4"/>
          <p:cNvSpPr/>
          <p:nvPr/>
        </p:nvSpPr>
        <p:spPr>
          <a:xfrm>
            <a:off x="3511296" y="2761488"/>
            <a:ext cx="1060704" cy="365760"/>
          </a:xfrm>
          <a:prstGeom prst="rect">
            <a:avLst/>
          </a:prstGeom>
          <a:noFill/>
          <a:ln/>
        </p:spPr>
        <p:txBody>
          <a:bodyPr wrap="square" lIns="0" tIns="0" rIns="0" bIns="0" rtlCol="0" anchor="t"/>
          <a:lstStyle/>
          <a:p>
            <a:pPr marL="0" indent="0">
              <a:buNone/>
            </a:pPr>
            <a:r>
              <a:rPr lang="en-US" altLang="en-US" sz="1900" b="1" dirty="0">
                <a:solidFill>
                  <a:srgbClr val="0F766E"/>
                </a:solidFill>
                <a:latin typeface="Segoe UI" pitchFamily="34" charset="0"/>
                <a:ea typeface="Segoe UI" pitchFamily="34" charset="-122"/>
                <a:cs typeface="Segoe UI" pitchFamily="34" charset="-120"/>
              </a:rPr>
              <a:t>30 min</a:t>
            </a:r>
            <a:endParaRPr lang="en-US" sz="1900" dirty="0"/>
          </a:p>
        </p:txBody>
      </p:sp>
      <p:sp>
        <p:nvSpPr>
          <p:cNvPr id="7" name="Text 5"/>
          <p:cNvSpPr/>
          <p:nvPr/>
        </p:nvSpPr>
        <p:spPr>
          <a:xfrm>
            <a:off x="4690872" y="2788920"/>
            <a:ext cx="1069848" cy="310896"/>
          </a:xfrm>
          <a:prstGeom prst="rect">
            <a:avLst/>
          </a:prstGeom>
          <a:noFill/>
          <a:ln/>
        </p:spPr>
        <p:txBody>
          <a:bodyPr wrap="square" lIns="0" tIns="0" rIns="0" bIns="0" rtlCol="0" anchor="t"/>
          <a:lstStyle/>
          <a:p>
            <a:pPr marL="0" indent="0">
              <a:buNone/>
            </a:pPr>
            <a:r>
              <a:rPr lang="en-US" altLang="en-US" sz="1650" dirty="0">
                <a:solidFill>
                  <a:srgbClr val="526779"/>
                </a:solidFill>
                <a:latin typeface="Consolas" pitchFamily="34" charset="0"/>
                <a:ea typeface="Consolas" pitchFamily="34" charset="-122"/>
                <a:cs typeface="Consolas" pitchFamily="34" charset="-120"/>
              </a:rPr>
              <a:t>P01-P10</a:t>
            </a:r>
            <a:endParaRPr lang="en-US" sz="1650" dirty="0"/>
          </a:p>
        </p:txBody>
      </p:sp>
      <p:sp>
        <p:nvSpPr>
          <p:cNvPr id="8" name="Text 6">
            <a:hlinkClick r:id="rId4" action="ppaction://hlinksldjump" tooltip="Open the private coaching reference"/>
          </p:cNvPr>
          <p:cNvSpPr/>
          <p:nvPr/>
        </p:nvSpPr>
        <p:spPr>
          <a:xfrm>
            <a:off x="585216" y="3328416"/>
            <a:ext cx="2798064" cy="374904"/>
          </a:xfrm>
          <a:prstGeom prst="rect">
            <a:avLst/>
          </a:prstGeom>
          <a:noFill/>
          <a:ln/>
        </p:spPr>
        <p:txBody>
          <a:bodyPr wrap="square" lIns="0" tIns="0" rIns="0" bIns="0" rtlCol="0" anchor="t"/>
          <a:lstStyle/>
          <a:p>
            <a:pPr marL="0" indent="0">
              <a:buNone/>
            </a:pPr>
            <a:r>
              <a:rPr lang="en-US" altLang="en-US" sz="2000" u="sng" dirty="0">
                <a:solidFill>
                  <a:srgbClr val="0F766E"/>
                </a:solidFill>
                <a:latin typeface="Segoe UI" pitchFamily="34" charset="0"/>
                <a:ea typeface="Segoe UI" pitchFamily="34" charset="-122"/>
                <a:cs typeface="Segoe UI" pitchFamily="34" charset="-120"/>
                <a:hlinkClick r:id="rId4" action="ppaction://hlinksldjump" tooltip="Open the private coaching reference">
                  <a:extLst>
                    <a:ext uri="{A12FA001-AC4F-418D-AE19-62706E023703}">
                      <ahyp:hlinkClr xmlns:ahyp="http://schemas.microsoft.com/office/drawing/2018/hyperlinkcolor" val="tx"/>
                    </a:ext>
                  </a:extLst>
                </a:hlinkClick>
              </a:rPr>
              <a:t>Mission 1 + debrief</a:t>
            </a:r>
            <a:endParaRPr lang="en-US" sz="2000" dirty="0"/>
          </a:p>
        </p:txBody>
      </p:sp>
      <p:sp>
        <p:nvSpPr>
          <p:cNvPr id="9" name="Text 7"/>
          <p:cNvSpPr/>
          <p:nvPr/>
        </p:nvSpPr>
        <p:spPr>
          <a:xfrm>
            <a:off x="3511296" y="3328416"/>
            <a:ext cx="1060704" cy="365760"/>
          </a:xfrm>
          <a:prstGeom prst="rect">
            <a:avLst/>
          </a:prstGeom>
          <a:noFill/>
          <a:ln/>
        </p:spPr>
        <p:txBody>
          <a:bodyPr wrap="square" lIns="0" tIns="0" rIns="0" bIns="0" rtlCol="0" anchor="t"/>
          <a:lstStyle/>
          <a:p>
            <a:pPr marL="0" indent="0">
              <a:buNone/>
            </a:pPr>
            <a:r>
              <a:rPr lang="en-US" altLang="en-US" sz="1900" b="1" dirty="0">
                <a:solidFill>
                  <a:srgbClr val="0F766E"/>
                </a:solidFill>
                <a:latin typeface="Segoe UI" pitchFamily="34" charset="0"/>
                <a:ea typeface="Segoe UI" pitchFamily="34" charset="-122"/>
                <a:cs typeface="Segoe UI" pitchFamily="34" charset="-120"/>
              </a:rPr>
              <a:t>65 min</a:t>
            </a:r>
            <a:endParaRPr lang="en-US" sz="1900" dirty="0"/>
          </a:p>
        </p:txBody>
      </p:sp>
      <p:sp>
        <p:nvSpPr>
          <p:cNvPr id="10" name="Text 8"/>
          <p:cNvSpPr/>
          <p:nvPr/>
        </p:nvSpPr>
        <p:spPr>
          <a:xfrm>
            <a:off x="4690872" y="3355848"/>
            <a:ext cx="1069848" cy="310896"/>
          </a:xfrm>
          <a:prstGeom prst="rect">
            <a:avLst/>
          </a:prstGeom>
          <a:noFill/>
          <a:ln/>
        </p:spPr>
        <p:txBody>
          <a:bodyPr wrap="square" lIns="0" tIns="0" rIns="0" bIns="0" rtlCol="0" anchor="t"/>
          <a:lstStyle/>
          <a:p>
            <a:pPr marL="0" indent="0">
              <a:buNone/>
            </a:pPr>
            <a:r>
              <a:rPr lang="en-US" altLang="en-US" sz="1650" dirty="0">
                <a:solidFill>
                  <a:srgbClr val="526779"/>
                </a:solidFill>
                <a:latin typeface="Consolas" pitchFamily="34" charset="0"/>
                <a:ea typeface="Consolas" pitchFamily="34" charset="-122"/>
                <a:cs typeface="Consolas" pitchFamily="34" charset="-120"/>
              </a:rPr>
              <a:t>P11-P20</a:t>
            </a:r>
            <a:endParaRPr lang="en-US" sz="1650" dirty="0"/>
          </a:p>
        </p:txBody>
      </p:sp>
      <p:sp>
        <p:nvSpPr>
          <p:cNvPr id="11" name="Text 9">
            <a:hlinkClick r:id="rId5" action="ppaction://hlinksldjump" tooltip="Open the private coaching reference"/>
          </p:cNvPr>
          <p:cNvSpPr/>
          <p:nvPr/>
        </p:nvSpPr>
        <p:spPr>
          <a:xfrm>
            <a:off x="585216" y="3895344"/>
            <a:ext cx="2798064" cy="374904"/>
          </a:xfrm>
          <a:prstGeom prst="rect">
            <a:avLst/>
          </a:prstGeom>
          <a:noFill/>
          <a:ln/>
        </p:spPr>
        <p:txBody>
          <a:bodyPr wrap="square" lIns="0" tIns="0" rIns="0" bIns="0" rtlCol="0" anchor="t"/>
          <a:lstStyle/>
          <a:p>
            <a:pPr marL="0" indent="0">
              <a:buNone/>
            </a:pPr>
            <a:r>
              <a:rPr lang="en-US" altLang="en-US" sz="2000" u="sng" dirty="0">
                <a:solidFill>
                  <a:srgbClr val="0F766E"/>
                </a:solidFill>
                <a:latin typeface="Segoe UI" pitchFamily="34" charset="0"/>
                <a:ea typeface="Segoe UI" pitchFamily="34" charset="-122"/>
                <a:cs typeface="Segoe UI" pitchFamily="34" charset="-120"/>
                <a:hlinkClick r:id="rId5" action="ppaction://hlinksldjump" tooltip="Open the private coaching reference">
                  <a:extLst>
                    <a:ext uri="{A12FA001-AC4F-418D-AE19-62706E023703}">
                      <ahyp:hlinkClr xmlns:ahyp="http://schemas.microsoft.com/office/drawing/2018/hyperlinkcolor" val="tx"/>
                    </a:ext>
                  </a:extLst>
                </a:hlinkClick>
              </a:rPr>
              <a:t>Mission 2</a:t>
            </a:r>
            <a:endParaRPr lang="en-US" sz="2000" dirty="0"/>
          </a:p>
        </p:txBody>
      </p:sp>
      <p:sp>
        <p:nvSpPr>
          <p:cNvPr id="12" name="Text 10"/>
          <p:cNvSpPr/>
          <p:nvPr/>
        </p:nvSpPr>
        <p:spPr>
          <a:xfrm>
            <a:off x="3511296" y="3895344"/>
            <a:ext cx="1060704" cy="365760"/>
          </a:xfrm>
          <a:prstGeom prst="rect">
            <a:avLst/>
          </a:prstGeom>
          <a:noFill/>
          <a:ln/>
        </p:spPr>
        <p:txBody>
          <a:bodyPr wrap="square" lIns="0" tIns="0" rIns="0" bIns="0" rtlCol="0" anchor="t"/>
          <a:lstStyle/>
          <a:p>
            <a:pPr marL="0" indent="0">
              <a:buNone/>
            </a:pPr>
            <a:r>
              <a:rPr lang="en-US" altLang="en-US" sz="1900" b="1" dirty="0">
                <a:solidFill>
                  <a:srgbClr val="0F766E"/>
                </a:solidFill>
                <a:latin typeface="Segoe UI" pitchFamily="34" charset="0"/>
                <a:ea typeface="Segoe UI" pitchFamily="34" charset="-122"/>
                <a:cs typeface="Segoe UI" pitchFamily="34" charset="-120"/>
              </a:rPr>
              <a:t>55 min</a:t>
            </a:r>
            <a:endParaRPr lang="en-US" sz="1900" dirty="0"/>
          </a:p>
        </p:txBody>
      </p:sp>
      <p:sp>
        <p:nvSpPr>
          <p:cNvPr id="13" name="Text 11"/>
          <p:cNvSpPr/>
          <p:nvPr/>
        </p:nvSpPr>
        <p:spPr>
          <a:xfrm>
            <a:off x="4690872" y="3922776"/>
            <a:ext cx="1069848" cy="310896"/>
          </a:xfrm>
          <a:prstGeom prst="rect">
            <a:avLst/>
          </a:prstGeom>
          <a:noFill/>
          <a:ln/>
        </p:spPr>
        <p:txBody>
          <a:bodyPr wrap="square" lIns="0" tIns="0" rIns="0" bIns="0" rtlCol="0" anchor="t"/>
          <a:lstStyle/>
          <a:p>
            <a:pPr marL="0" indent="0">
              <a:buNone/>
            </a:pPr>
            <a:r>
              <a:rPr lang="en-US" altLang="en-US" sz="1650" dirty="0">
                <a:solidFill>
                  <a:srgbClr val="526779"/>
                </a:solidFill>
                <a:latin typeface="Consolas" pitchFamily="34" charset="0"/>
                <a:ea typeface="Consolas" pitchFamily="34" charset="-122"/>
                <a:cs typeface="Consolas" pitchFamily="34" charset="-120"/>
              </a:rPr>
              <a:t>P21-P27</a:t>
            </a:r>
            <a:endParaRPr lang="en-US" sz="1650" dirty="0"/>
          </a:p>
        </p:txBody>
      </p:sp>
      <p:sp>
        <p:nvSpPr>
          <p:cNvPr id="14" name="Text 12">
            <a:hlinkClick r:id="rId6" action="ppaction://hlinksldjump" tooltip="Open the private coaching reference"/>
          </p:cNvPr>
          <p:cNvSpPr/>
          <p:nvPr/>
        </p:nvSpPr>
        <p:spPr>
          <a:xfrm>
            <a:off x="585216" y="4462272"/>
            <a:ext cx="2798064" cy="374904"/>
          </a:xfrm>
          <a:prstGeom prst="rect">
            <a:avLst/>
          </a:prstGeom>
          <a:noFill/>
          <a:ln/>
        </p:spPr>
        <p:txBody>
          <a:bodyPr wrap="square" lIns="0" tIns="0" rIns="0" bIns="0" rtlCol="0" anchor="t"/>
          <a:lstStyle/>
          <a:p>
            <a:pPr marL="0" indent="0">
              <a:buNone/>
            </a:pPr>
            <a:r>
              <a:rPr lang="en-US" altLang="en-US" sz="2000" u="sng" dirty="0">
                <a:solidFill>
                  <a:srgbClr val="0F766E"/>
                </a:solidFill>
                <a:latin typeface="Segoe UI" pitchFamily="34" charset="0"/>
                <a:ea typeface="Segoe UI" pitchFamily="34" charset="-122"/>
                <a:cs typeface="Segoe UI" pitchFamily="34" charset="-120"/>
                <a:hlinkClick r:id="rId6" action="ppaction://hlinksldjump" tooltip="Open the private coaching reference">
                  <a:extLst>
                    <a:ext uri="{A12FA001-AC4F-418D-AE19-62706E023703}">
                      <ahyp:hlinkClr xmlns:ahyp="http://schemas.microsoft.com/office/drawing/2018/hyperlinkcolor" val="tx"/>
                    </a:ext>
                  </a:extLst>
                </a:hlinkClick>
              </a:rPr>
              <a:t>Lunch</a:t>
            </a:r>
            <a:endParaRPr lang="en-US" sz="2000" dirty="0"/>
          </a:p>
        </p:txBody>
      </p:sp>
      <p:sp>
        <p:nvSpPr>
          <p:cNvPr id="15" name="Text 13"/>
          <p:cNvSpPr/>
          <p:nvPr/>
        </p:nvSpPr>
        <p:spPr>
          <a:xfrm>
            <a:off x="3511296" y="4462272"/>
            <a:ext cx="1060704" cy="365760"/>
          </a:xfrm>
          <a:prstGeom prst="rect">
            <a:avLst/>
          </a:prstGeom>
          <a:noFill/>
          <a:ln/>
        </p:spPr>
        <p:txBody>
          <a:bodyPr wrap="square" lIns="0" tIns="0" rIns="0" bIns="0" rtlCol="0" anchor="t"/>
          <a:lstStyle/>
          <a:p>
            <a:pPr marL="0" indent="0">
              <a:buNone/>
            </a:pPr>
            <a:r>
              <a:rPr lang="en-US" altLang="en-US" sz="1900" b="1" dirty="0">
                <a:solidFill>
                  <a:srgbClr val="0F766E"/>
                </a:solidFill>
                <a:latin typeface="Segoe UI" pitchFamily="34" charset="0"/>
                <a:ea typeface="Segoe UI" pitchFamily="34" charset="-122"/>
                <a:cs typeface="Segoe UI" pitchFamily="34" charset="-120"/>
              </a:rPr>
              <a:t>60 min</a:t>
            </a:r>
            <a:endParaRPr lang="en-US" sz="1900" dirty="0"/>
          </a:p>
        </p:txBody>
      </p:sp>
      <p:sp>
        <p:nvSpPr>
          <p:cNvPr id="16" name="Text 14"/>
          <p:cNvSpPr/>
          <p:nvPr/>
        </p:nvSpPr>
        <p:spPr>
          <a:xfrm>
            <a:off x="4690872" y="4489704"/>
            <a:ext cx="1069848" cy="310896"/>
          </a:xfrm>
          <a:prstGeom prst="rect">
            <a:avLst/>
          </a:prstGeom>
          <a:noFill/>
          <a:ln/>
        </p:spPr>
        <p:txBody>
          <a:bodyPr wrap="square" lIns="0" tIns="0" rIns="0" bIns="0" rtlCol="0" anchor="t"/>
          <a:lstStyle/>
          <a:p>
            <a:pPr marL="0" indent="0">
              <a:buNone/>
            </a:pPr>
            <a:r>
              <a:rPr lang="en-US" altLang="en-US" sz="1650" dirty="0">
                <a:solidFill>
                  <a:srgbClr val="526779"/>
                </a:solidFill>
                <a:latin typeface="Consolas" pitchFamily="34" charset="0"/>
                <a:ea typeface="Consolas" pitchFamily="34" charset="-122"/>
                <a:cs typeface="Consolas" pitchFamily="34" charset="-120"/>
              </a:rPr>
              <a:t>P28</a:t>
            </a:r>
            <a:endParaRPr lang="en-US" sz="1650" dirty="0"/>
          </a:p>
        </p:txBody>
      </p:sp>
      <p:sp>
        <p:nvSpPr>
          <p:cNvPr id="17" name="Text 15">
            <a:hlinkClick r:id="rId7" action="ppaction://hlinksldjump" tooltip="Open the private coaching reference"/>
          </p:cNvPr>
          <p:cNvSpPr/>
          <p:nvPr/>
        </p:nvSpPr>
        <p:spPr>
          <a:xfrm>
            <a:off x="585216" y="5029200"/>
            <a:ext cx="2798064" cy="374904"/>
          </a:xfrm>
          <a:prstGeom prst="rect">
            <a:avLst/>
          </a:prstGeom>
          <a:noFill/>
          <a:ln/>
        </p:spPr>
        <p:txBody>
          <a:bodyPr wrap="square" lIns="0" tIns="0" rIns="0" bIns="0" rtlCol="0" anchor="t"/>
          <a:lstStyle/>
          <a:p>
            <a:pPr marL="0" indent="0">
              <a:buNone/>
            </a:pPr>
            <a:r>
              <a:rPr lang="en-US" altLang="en-US" sz="2000" u="sng" dirty="0">
                <a:solidFill>
                  <a:srgbClr val="0F766E"/>
                </a:solidFill>
                <a:latin typeface="Segoe UI" pitchFamily="34" charset="0"/>
                <a:ea typeface="Segoe UI" pitchFamily="34" charset="-122"/>
                <a:cs typeface="Segoe UI" pitchFamily="34" charset="-120"/>
                <a:hlinkClick r:id="rId7" action="ppaction://hlinksldjump" tooltip="Open the private coaching reference">
                  <a:extLst>
                    <a:ext uri="{A12FA001-AC4F-418D-AE19-62706E023703}">
                      <ahyp:hlinkClr xmlns:ahyp="http://schemas.microsoft.com/office/drawing/2018/hyperlinkcolor" val="tx"/>
                    </a:ext>
                  </a:extLst>
                </a:hlinkClick>
              </a:rPr>
              <a:t>Mission 3</a:t>
            </a:r>
            <a:endParaRPr lang="en-US" sz="2000" dirty="0"/>
          </a:p>
        </p:txBody>
      </p:sp>
      <p:sp>
        <p:nvSpPr>
          <p:cNvPr id="18" name="Text 16"/>
          <p:cNvSpPr/>
          <p:nvPr/>
        </p:nvSpPr>
        <p:spPr>
          <a:xfrm>
            <a:off x="3511296" y="5029200"/>
            <a:ext cx="1060704" cy="365760"/>
          </a:xfrm>
          <a:prstGeom prst="rect">
            <a:avLst/>
          </a:prstGeom>
          <a:noFill/>
          <a:ln/>
        </p:spPr>
        <p:txBody>
          <a:bodyPr wrap="square" lIns="0" tIns="0" rIns="0" bIns="0" rtlCol="0" anchor="t"/>
          <a:lstStyle/>
          <a:p>
            <a:pPr marL="0" indent="0">
              <a:buNone/>
            </a:pPr>
            <a:r>
              <a:rPr lang="en-US" altLang="en-US" sz="1900" b="1" dirty="0">
                <a:solidFill>
                  <a:srgbClr val="0F766E"/>
                </a:solidFill>
                <a:latin typeface="Segoe UI" pitchFamily="34" charset="0"/>
                <a:ea typeface="Segoe UI" pitchFamily="34" charset="-122"/>
                <a:cs typeface="Segoe UI" pitchFamily="34" charset="-120"/>
              </a:rPr>
              <a:t>60 min</a:t>
            </a:r>
            <a:endParaRPr lang="en-US" sz="1900" dirty="0"/>
          </a:p>
        </p:txBody>
      </p:sp>
      <p:sp>
        <p:nvSpPr>
          <p:cNvPr id="19" name="Text 17"/>
          <p:cNvSpPr/>
          <p:nvPr/>
        </p:nvSpPr>
        <p:spPr>
          <a:xfrm>
            <a:off x="4690872" y="5056632"/>
            <a:ext cx="1069848" cy="310896"/>
          </a:xfrm>
          <a:prstGeom prst="rect">
            <a:avLst/>
          </a:prstGeom>
          <a:noFill/>
          <a:ln/>
        </p:spPr>
        <p:txBody>
          <a:bodyPr wrap="square" lIns="0" tIns="0" rIns="0" bIns="0" rtlCol="0" anchor="t"/>
          <a:lstStyle/>
          <a:p>
            <a:pPr marL="0" indent="0">
              <a:buNone/>
            </a:pPr>
            <a:r>
              <a:rPr lang="en-US" altLang="en-US" sz="1650" dirty="0">
                <a:solidFill>
                  <a:srgbClr val="526779"/>
                </a:solidFill>
                <a:latin typeface="Consolas" pitchFamily="34" charset="0"/>
                <a:ea typeface="Consolas" pitchFamily="34" charset="-122"/>
                <a:cs typeface="Consolas" pitchFamily="34" charset="-120"/>
              </a:rPr>
              <a:t>P29-P36</a:t>
            </a:r>
            <a:endParaRPr lang="en-US" sz="1650" dirty="0"/>
          </a:p>
        </p:txBody>
      </p:sp>
      <p:sp>
        <p:nvSpPr>
          <p:cNvPr id="20" name="Text 18">
            <a:hlinkClick r:id="rId6" action="ppaction://hlinksldjump" tooltip="Open the private coaching reference"/>
          </p:cNvPr>
          <p:cNvSpPr/>
          <p:nvPr/>
        </p:nvSpPr>
        <p:spPr>
          <a:xfrm>
            <a:off x="6291072" y="2761488"/>
            <a:ext cx="2798064" cy="374904"/>
          </a:xfrm>
          <a:prstGeom prst="rect">
            <a:avLst/>
          </a:prstGeom>
          <a:noFill/>
          <a:ln/>
        </p:spPr>
        <p:txBody>
          <a:bodyPr wrap="square" lIns="0" tIns="0" rIns="0" bIns="0" rtlCol="0" anchor="t"/>
          <a:lstStyle/>
          <a:p>
            <a:pPr marL="0" indent="0">
              <a:buNone/>
            </a:pPr>
            <a:r>
              <a:rPr lang="en-US" altLang="en-US" sz="2000" u="sng" dirty="0">
                <a:solidFill>
                  <a:srgbClr val="0F766E"/>
                </a:solidFill>
                <a:latin typeface="Segoe UI" pitchFamily="34" charset="0"/>
                <a:ea typeface="Segoe UI" pitchFamily="34" charset="-122"/>
                <a:cs typeface="Segoe UI" pitchFamily="34" charset="-120"/>
                <a:hlinkClick r:id="rId6" action="ppaction://hlinksldjump" tooltip="Open the private coaching reference">
                  <a:extLst>
                    <a:ext uri="{A12FA001-AC4F-418D-AE19-62706E023703}">
                      <ahyp:hlinkClr xmlns:ahyp="http://schemas.microsoft.com/office/drawing/2018/hyperlinkcolor" val="tx"/>
                    </a:ext>
                  </a:extLst>
                </a:hlinkClick>
              </a:rPr>
              <a:t>Break</a:t>
            </a:r>
            <a:endParaRPr lang="en-US" sz="2000" dirty="0"/>
          </a:p>
        </p:txBody>
      </p:sp>
      <p:sp>
        <p:nvSpPr>
          <p:cNvPr id="21" name="Text 19"/>
          <p:cNvSpPr/>
          <p:nvPr/>
        </p:nvSpPr>
        <p:spPr>
          <a:xfrm>
            <a:off x="9217152" y="2761488"/>
            <a:ext cx="1060704" cy="365760"/>
          </a:xfrm>
          <a:prstGeom prst="rect">
            <a:avLst/>
          </a:prstGeom>
          <a:noFill/>
          <a:ln/>
        </p:spPr>
        <p:txBody>
          <a:bodyPr wrap="square" lIns="0" tIns="0" rIns="0" bIns="0" rtlCol="0" anchor="t"/>
          <a:lstStyle/>
          <a:p>
            <a:pPr marL="0" indent="0">
              <a:buNone/>
            </a:pPr>
            <a:r>
              <a:rPr lang="en-US" altLang="en-US" sz="1900" b="1" dirty="0">
                <a:solidFill>
                  <a:srgbClr val="0F766E"/>
                </a:solidFill>
                <a:latin typeface="Segoe UI" pitchFamily="34" charset="0"/>
                <a:ea typeface="Segoe UI" pitchFamily="34" charset="-122"/>
                <a:cs typeface="Segoe UI" pitchFamily="34" charset="-120"/>
              </a:rPr>
              <a:t>15 min</a:t>
            </a:r>
            <a:endParaRPr lang="en-US" sz="1900" dirty="0"/>
          </a:p>
        </p:txBody>
      </p:sp>
      <p:sp>
        <p:nvSpPr>
          <p:cNvPr id="22" name="Text 20"/>
          <p:cNvSpPr/>
          <p:nvPr/>
        </p:nvSpPr>
        <p:spPr>
          <a:xfrm>
            <a:off x="10396728" y="2788920"/>
            <a:ext cx="1069848" cy="310896"/>
          </a:xfrm>
          <a:prstGeom prst="rect">
            <a:avLst/>
          </a:prstGeom>
          <a:noFill/>
          <a:ln/>
        </p:spPr>
        <p:txBody>
          <a:bodyPr wrap="square" lIns="0" tIns="0" rIns="0" bIns="0" rtlCol="0" anchor="t"/>
          <a:lstStyle/>
          <a:p>
            <a:pPr marL="0" indent="0">
              <a:buNone/>
            </a:pPr>
            <a:r>
              <a:rPr lang="en-US" altLang="en-US" sz="1650" dirty="0">
                <a:solidFill>
                  <a:srgbClr val="526779"/>
                </a:solidFill>
                <a:latin typeface="Consolas" pitchFamily="34" charset="0"/>
                <a:ea typeface="Consolas" pitchFamily="34" charset="-122"/>
                <a:cs typeface="Consolas" pitchFamily="34" charset="-120"/>
              </a:rPr>
              <a:t>P37</a:t>
            </a:r>
            <a:endParaRPr lang="en-US" sz="1650" dirty="0"/>
          </a:p>
        </p:txBody>
      </p:sp>
      <p:sp>
        <p:nvSpPr>
          <p:cNvPr id="23" name="Text 21">
            <a:hlinkClick r:id="rId8" action="ppaction://hlinksldjump" tooltip="Open the private coaching reference"/>
          </p:cNvPr>
          <p:cNvSpPr/>
          <p:nvPr/>
        </p:nvSpPr>
        <p:spPr>
          <a:xfrm>
            <a:off x="6291072" y="3328416"/>
            <a:ext cx="2798064" cy="374904"/>
          </a:xfrm>
          <a:prstGeom prst="rect">
            <a:avLst/>
          </a:prstGeom>
          <a:noFill/>
          <a:ln/>
        </p:spPr>
        <p:txBody>
          <a:bodyPr wrap="square" lIns="0" tIns="0" rIns="0" bIns="0" rtlCol="0" anchor="t"/>
          <a:lstStyle/>
          <a:p>
            <a:pPr marL="0" indent="0">
              <a:buNone/>
            </a:pPr>
            <a:r>
              <a:rPr lang="en-US" altLang="en-US" sz="2000" u="sng" dirty="0">
                <a:solidFill>
                  <a:srgbClr val="0F766E"/>
                </a:solidFill>
                <a:latin typeface="Segoe UI" pitchFamily="34" charset="0"/>
                <a:ea typeface="Segoe UI" pitchFamily="34" charset="-122"/>
                <a:cs typeface="Segoe UI" pitchFamily="34" charset="-120"/>
                <a:hlinkClick r:id="rId8" action="ppaction://hlinksldjump" tooltip="Open the private coaching reference">
                  <a:extLst>
                    <a:ext uri="{A12FA001-AC4F-418D-AE19-62706E023703}">
                      <ahyp:hlinkClr xmlns:ahyp="http://schemas.microsoft.com/office/drawing/2018/hyperlinkcolor" val="tx"/>
                    </a:ext>
                  </a:extLst>
                </a:hlinkClick>
              </a:rPr>
              <a:t>Mission 4</a:t>
            </a:r>
            <a:endParaRPr lang="en-US" sz="2000" dirty="0"/>
          </a:p>
        </p:txBody>
      </p:sp>
      <p:sp>
        <p:nvSpPr>
          <p:cNvPr id="24" name="Text 22"/>
          <p:cNvSpPr/>
          <p:nvPr/>
        </p:nvSpPr>
        <p:spPr>
          <a:xfrm>
            <a:off x="9217152" y="3328416"/>
            <a:ext cx="1060704" cy="365760"/>
          </a:xfrm>
          <a:prstGeom prst="rect">
            <a:avLst/>
          </a:prstGeom>
          <a:noFill/>
          <a:ln/>
        </p:spPr>
        <p:txBody>
          <a:bodyPr wrap="square" lIns="0" tIns="0" rIns="0" bIns="0" rtlCol="0" anchor="t"/>
          <a:lstStyle/>
          <a:p>
            <a:pPr marL="0" indent="0">
              <a:buNone/>
            </a:pPr>
            <a:r>
              <a:rPr lang="en-US" altLang="en-US" sz="1900" b="1" dirty="0">
                <a:solidFill>
                  <a:srgbClr val="0F766E"/>
                </a:solidFill>
                <a:latin typeface="Segoe UI" pitchFamily="34" charset="0"/>
                <a:ea typeface="Segoe UI" pitchFamily="34" charset="-122"/>
                <a:cs typeface="Segoe UI" pitchFamily="34" charset="-120"/>
              </a:rPr>
              <a:t>65 min</a:t>
            </a:r>
            <a:endParaRPr lang="en-US" sz="1900" dirty="0"/>
          </a:p>
        </p:txBody>
      </p:sp>
      <p:sp>
        <p:nvSpPr>
          <p:cNvPr id="25" name="Text 23"/>
          <p:cNvSpPr/>
          <p:nvPr/>
        </p:nvSpPr>
        <p:spPr>
          <a:xfrm>
            <a:off x="10396728" y="3355848"/>
            <a:ext cx="1069848" cy="310896"/>
          </a:xfrm>
          <a:prstGeom prst="rect">
            <a:avLst/>
          </a:prstGeom>
          <a:noFill/>
          <a:ln/>
        </p:spPr>
        <p:txBody>
          <a:bodyPr wrap="square" lIns="0" tIns="0" rIns="0" bIns="0" rtlCol="0" anchor="t"/>
          <a:lstStyle/>
          <a:p>
            <a:pPr marL="0" indent="0">
              <a:buNone/>
            </a:pPr>
            <a:r>
              <a:rPr lang="en-US" altLang="en-US" sz="1650" dirty="0">
                <a:solidFill>
                  <a:srgbClr val="526779"/>
                </a:solidFill>
                <a:latin typeface="Consolas" pitchFamily="34" charset="0"/>
                <a:ea typeface="Consolas" pitchFamily="34" charset="-122"/>
                <a:cs typeface="Consolas" pitchFamily="34" charset="-120"/>
              </a:rPr>
              <a:t>P38-P45</a:t>
            </a:r>
            <a:endParaRPr lang="en-US" sz="1650" dirty="0"/>
          </a:p>
        </p:txBody>
      </p:sp>
      <p:sp>
        <p:nvSpPr>
          <p:cNvPr id="26" name="Text 24">
            <a:hlinkClick r:id="rId9" action="ppaction://hlinksldjump" tooltip="Open the private coaching reference"/>
          </p:cNvPr>
          <p:cNvSpPr/>
          <p:nvPr/>
        </p:nvSpPr>
        <p:spPr>
          <a:xfrm>
            <a:off x="6291072" y="3895344"/>
            <a:ext cx="2798064" cy="374904"/>
          </a:xfrm>
          <a:prstGeom prst="rect">
            <a:avLst/>
          </a:prstGeom>
          <a:noFill/>
          <a:ln/>
        </p:spPr>
        <p:txBody>
          <a:bodyPr wrap="square" lIns="0" tIns="0" rIns="0" bIns="0" rtlCol="0" anchor="t"/>
          <a:lstStyle/>
          <a:p>
            <a:pPr marL="0" indent="0">
              <a:buNone/>
            </a:pPr>
            <a:r>
              <a:rPr lang="en-US" altLang="en-US" sz="2000" u="sng" dirty="0">
                <a:solidFill>
                  <a:srgbClr val="0F766E"/>
                </a:solidFill>
                <a:latin typeface="Segoe UI" pitchFamily="34" charset="0"/>
                <a:ea typeface="Segoe UI" pitchFamily="34" charset="-122"/>
                <a:cs typeface="Segoe UI" pitchFamily="34" charset="-120"/>
                <a:hlinkClick r:id="rId9" action="ppaction://hlinksldjump" tooltip="Open the private coaching reference">
                  <a:extLst>
                    <a:ext uri="{A12FA001-AC4F-418D-AE19-62706E023703}">
                      <ahyp:hlinkClr xmlns:ahyp="http://schemas.microsoft.com/office/drawing/2018/hyperlinkcolor" val="tx"/>
                    </a:ext>
                  </a:extLst>
                </a:hlinkClick>
              </a:rPr>
              <a:t>Mission 5</a:t>
            </a:r>
            <a:endParaRPr lang="en-US" sz="2000" dirty="0"/>
          </a:p>
        </p:txBody>
      </p:sp>
      <p:sp>
        <p:nvSpPr>
          <p:cNvPr id="27" name="Text 25"/>
          <p:cNvSpPr/>
          <p:nvPr/>
        </p:nvSpPr>
        <p:spPr>
          <a:xfrm>
            <a:off x="9217152" y="3895344"/>
            <a:ext cx="1060704" cy="365760"/>
          </a:xfrm>
          <a:prstGeom prst="rect">
            <a:avLst/>
          </a:prstGeom>
          <a:noFill/>
          <a:ln/>
        </p:spPr>
        <p:txBody>
          <a:bodyPr wrap="square" lIns="0" tIns="0" rIns="0" bIns="0" rtlCol="0" anchor="t"/>
          <a:lstStyle/>
          <a:p>
            <a:pPr marL="0" indent="0">
              <a:buNone/>
            </a:pPr>
            <a:r>
              <a:rPr lang="en-US" altLang="en-US" sz="1900" b="1" dirty="0">
                <a:solidFill>
                  <a:srgbClr val="0F766E"/>
                </a:solidFill>
                <a:latin typeface="Segoe UI" pitchFamily="34" charset="0"/>
                <a:ea typeface="Segoe UI" pitchFamily="34" charset="-122"/>
                <a:cs typeface="Segoe UI" pitchFamily="34" charset="-120"/>
              </a:rPr>
              <a:t>75 min</a:t>
            </a:r>
            <a:endParaRPr lang="en-US" sz="1900" dirty="0"/>
          </a:p>
        </p:txBody>
      </p:sp>
      <p:sp>
        <p:nvSpPr>
          <p:cNvPr id="28" name="Text 26"/>
          <p:cNvSpPr/>
          <p:nvPr/>
        </p:nvSpPr>
        <p:spPr>
          <a:xfrm>
            <a:off x="10396728" y="3922776"/>
            <a:ext cx="1069848" cy="310896"/>
          </a:xfrm>
          <a:prstGeom prst="rect">
            <a:avLst/>
          </a:prstGeom>
          <a:noFill/>
          <a:ln/>
        </p:spPr>
        <p:txBody>
          <a:bodyPr wrap="square" lIns="0" tIns="0" rIns="0" bIns="0" rtlCol="0" anchor="t"/>
          <a:lstStyle/>
          <a:p>
            <a:pPr marL="0" indent="0">
              <a:buNone/>
            </a:pPr>
            <a:r>
              <a:rPr lang="en-US" altLang="en-US" sz="1650" dirty="0">
                <a:solidFill>
                  <a:srgbClr val="526779"/>
                </a:solidFill>
                <a:latin typeface="Consolas" pitchFamily="34" charset="0"/>
                <a:ea typeface="Consolas" pitchFamily="34" charset="-122"/>
                <a:cs typeface="Consolas" pitchFamily="34" charset="-120"/>
              </a:rPr>
              <a:t>P46-P53</a:t>
            </a:r>
            <a:endParaRPr lang="en-US" sz="1650" dirty="0"/>
          </a:p>
        </p:txBody>
      </p:sp>
      <p:sp>
        <p:nvSpPr>
          <p:cNvPr id="29" name="Text 27">
            <a:hlinkClick r:id="rId10" action="ppaction://hlinksldjump" tooltip="Open the private coaching reference"/>
          </p:cNvPr>
          <p:cNvSpPr/>
          <p:nvPr/>
        </p:nvSpPr>
        <p:spPr>
          <a:xfrm>
            <a:off x="6291072" y="4462272"/>
            <a:ext cx="2798064" cy="374904"/>
          </a:xfrm>
          <a:prstGeom prst="rect">
            <a:avLst/>
          </a:prstGeom>
          <a:noFill/>
          <a:ln/>
        </p:spPr>
        <p:txBody>
          <a:bodyPr wrap="square" lIns="0" tIns="0" rIns="0" bIns="0" rtlCol="0" anchor="t"/>
          <a:lstStyle/>
          <a:p>
            <a:pPr marL="0" indent="0">
              <a:buNone/>
            </a:pPr>
            <a:r>
              <a:rPr lang="en-US" altLang="en-US" sz="2000" u="sng" dirty="0">
                <a:solidFill>
                  <a:srgbClr val="0F766E"/>
                </a:solidFill>
                <a:latin typeface="Segoe UI" pitchFamily="34" charset="0"/>
                <a:ea typeface="Segoe UI" pitchFamily="34" charset="-122"/>
                <a:cs typeface="Segoe UI" pitchFamily="34" charset="-120"/>
                <a:hlinkClick r:id="rId10" action="ppaction://hlinksldjump" tooltip="Open the private coaching reference">
                  <a:extLst>
                    <a:ext uri="{A12FA001-AC4F-418D-AE19-62706E023703}">
                      <ahyp:hlinkClr xmlns:ahyp="http://schemas.microsoft.com/office/drawing/2018/hyperlinkcolor" val="tx"/>
                    </a:ext>
                  </a:extLst>
                </a:hlinkClick>
              </a:rPr>
              <a:t>Demos + recognition</a:t>
            </a:r>
            <a:endParaRPr lang="en-US" sz="2000" dirty="0"/>
          </a:p>
        </p:txBody>
      </p:sp>
      <p:sp>
        <p:nvSpPr>
          <p:cNvPr id="30" name="Text 28"/>
          <p:cNvSpPr/>
          <p:nvPr/>
        </p:nvSpPr>
        <p:spPr>
          <a:xfrm>
            <a:off x="9217152" y="4462272"/>
            <a:ext cx="1060704" cy="365760"/>
          </a:xfrm>
          <a:prstGeom prst="rect">
            <a:avLst/>
          </a:prstGeom>
          <a:noFill/>
          <a:ln/>
        </p:spPr>
        <p:txBody>
          <a:bodyPr wrap="square" lIns="0" tIns="0" rIns="0" bIns="0" rtlCol="0" anchor="t"/>
          <a:lstStyle/>
          <a:p>
            <a:pPr marL="0" indent="0">
              <a:buNone/>
            </a:pPr>
            <a:r>
              <a:rPr lang="en-US" altLang="en-US" sz="1900" b="1" dirty="0">
                <a:solidFill>
                  <a:srgbClr val="0F766E"/>
                </a:solidFill>
                <a:latin typeface="Segoe UI" pitchFamily="34" charset="0"/>
                <a:ea typeface="Segoe UI" pitchFamily="34" charset="-122"/>
                <a:cs typeface="Segoe UI" pitchFamily="34" charset="-120"/>
              </a:rPr>
              <a:t>30 min</a:t>
            </a:r>
            <a:endParaRPr lang="en-US" sz="1900" dirty="0"/>
          </a:p>
        </p:txBody>
      </p:sp>
      <p:sp>
        <p:nvSpPr>
          <p:cNvPr id="31" name="Text 29"/>
          <p:cNvSpPr/>
          <p:nvPr/>
        </p:nvSpPr>
        <p:spPr>
          <a:xfrm>
            <a:off x="10396728" y="4489704"/>
            <a:ext cx="1069848" cy="310896"/>
          </a:xfrm>
          <a:prstGeom prst="rect">
            <a:avLst/>
          </a:prstGeom>
          <a:noFill/>
          <a:ln/>
        </p:spPr>
        <p:txBody>
          <a:bodyPr wrap="square" lIns="0" tIns="0" rIns="0" bIns="0" rtlCol="0" anchor="t"/>
          <a:lstStyle/>
          <a:p>
            <a:pPr marL="0" indent="0">
              <a:buNone/>
            </a:pPr>
            <a:r>
              <a:rPr lang="en-US" altLang="en-US" sz="1650" dirty="0">
                <a:solidFill>
                  <a:srgbClr val="526779"/>
                </a:solidFill>
                <a:latin typeface="Consolas" pitchFamily="34" charset="0"/>
                <a:ea typeface="Consolas" pitchFamily="34" charset="-122"/>
                <a:cs typeface="Consolas" pitchFamily="34" charset="-120"/>
              </a:rPr>
              <a:t>P54-P60</a:t>
            </a:r>
            <a:endParaRPr lang="en-US" sz="1650" dirty="0"/>
          </a:p>
        </p:txBody>
      </p:sp>
      <p:sp>
        <p:nvSpPr>
          <p:cNvPr id="32" name="Text 30">
            <a:hlinkClick r:id="rId11" action="ppaction://hlinksldjump" tooltip="Open the private operating reference"/>
          </p:cNvPr>
          <p:cNvSpPr/>
          <p:nvPr/>
        </p:nvSpPr>
        <p:spPr>
          <a:xfrm>
            <a:off x="585216" y="5504688"/>
            <a:ext cx="1719072" cy="246888"/>
          </a:xfrm>
          <a:prstGeom prst="rect">
            <a:avLst/>
          </a:prstGeom>
          <a:noFill/>
          <a:ln/>
        </p:spPr>
        <p:txBody>
          <a:bodyPr wrap="square" lIns="0" tIns="0" rIns="0" bIns="0" rtlCol="0" anchor="t"/>
          <a:lstStyle/>
          <a:p>
            <a:pPr marL="0" indent="0">
              <a:buNone/>
            </a:pPr>
            <a:r>
              <a:rPr lang="en-US" altLang="en-US" sz="1250" b="1" u="sng" dirty="0">
                <a:solidFill>
                  <a:srgbClr val="0F766E"/>
                </a:solidFill>
                <a:latin typeface="Segoe UI" pitchFamily="34" charset="0"/>
                <a:ea typeface="Segoe UI" pitchFamily="34" charset="-122"/>
                <a:cs typeface="Segoe UI" pitchFamily="34" charset="-120"/>
                <a:hlinkClick r:id="rId11" action="ppaction://hlinksldjump" tooltip="Open the private operating reference">
                  <a:extLst>
                    <a:ext uri="{A12FA001-AC4F-418D-AE19-62706E023703}">
                      <ahyp:hlinkClr xmlns:ahyp="http://schemas.microsoft.com/office/drawing/2018/hyperlinkcolor" val="tx"/>
                    </a:ext>
                  </a:extLst>
                </a:hlinkClick>
              </a:rPr>
              <a:t>PREFLIGHT</a:t>
            </a:r>
            <a:endParaRPr lang="en-US" sz="1250" dirty="0"/>
          </a:p>
        </p:txBody>
      </p:sp>
      <p:sp>
        <p:nvSpPr>
          <p:cNvPr id="33" name="Text 31">
            <a:hlinkClick r:id="rId12" action="ppaction://hlinksldjump" tooltip="Open the private operating reference"/>
          </p:cNvPr>
          <p:cNvSpPr/>
          <p:nvPr/>
        </p:nvSpPr>
        <p:spPr>
          <a:xfrm>
            <a:off x="2505456" y="5504688"/>
            <a:ext cx="1719072" cy="246888"/>
          </a:xfrm>
          <a:prstGeom prst="rect">
            <a:avLst/>
          </a:prstGeom>
          <a:noFill/>
          <a:ln/>
        </p:spPr>
        <p:txBody>
          <a:bodyPr wrap="square" lIns="0" tIns="0" rIns="0" bIns="0" rtlCol="0" anchor="t"/>
          <a:lstStyle/>
          <a:p>
            <a:pPr marL="0" indent="0">
              <a:buNone/>
            </a:pPr>
            <a:r>
              <a:rPr lang="en-US" altLang="en-US" sz="1250" b="1" u="sng" dirty="0">
                <a:solidFill>
                  <a:srgbClr val="0F766E"/>
                </a:solidFill>
                <a:latin typeface="Segoe UI" pitchFamily="34" charset="0"/>
                <a:ea typeface="Segoe UI" pitchFamily="34" charset="-122"/>
                <a:cs typeface="Segoe UI" pitchFamily="34" charset="-120"/>
                <a:hlinkClick r:id="rId12" action="ppaction://hlinksldjump" tooltip="Open the private operating reference">
                  <a:extLst>
                    <a:ext uri="{A12FA001-AC4F-418D-AE19-62706E023703}">
                      <ahyp:hlinkClr xmlns:ahyp="http://schemas.microsoft.com/office/drawing/2018/hyperlinkcolor" val="tx"/>
                    </a:ext>
                  </a:extLst>
                </a:hlinkClick>
              </a:rPr>
              <a:t>DEMO GATES</a:t>
            </a:r>
            <a:endParaRPr lang="en-US" sz="1250" dirty="0"/>
          </a:p>
        </p:txBody>
      </p:sp>
      <p:sp>
        <p:nvSpPr>
          <p:cNvPr id="34" name="Text 32">
            <a:hlinkClick r:id="rId13" action="ppaction://hlinksldjump" tooltip="Open the private operating reference"/>
          </p:cNvPr>
          <p:cNvSpPr/>
          <p:nvPr/>
        </p:nvSpPr>
        <p:spPr>
          <a:xfrm>
            <a:off x="4425696" y="5504688"/>
            <a:ext cx="1719072" cy="246888"/>
          </a:xfrm>
          <a:prstGeom prst="rect">
            <a:avLst/>
          </a:prstGeom>
          <a:noFill/>
          <a:ln/>
        </p:spPr>
        <p:txBody>
          <a:bodyPr wrap="square" lIns="0" tIns="0" rIns="0" bIns="0" rtlCol="0" anchor="t"/>
          <a:lstStyle/>
          <a:p>
            <a:pPr marL="0" indent="0">
              <a:buNone/>
            </a:pPr>
            <a:r>
              <a:rPr lang="en-US" altLang="en-US" sz="1250" b="1" u="sng" dirty="0">
                <a:solidFill>
                  <a:srgbClr val="0F766E"/>
                </a:solidFill>
                <a:latin typeface="Segoe UI" pitchFamily="34" charset="0"/>
                <a:ea typeface="Segoe UI" pitchFamily="34" charset="-122"/>
                <a:cs typeface="Segoe UI" pitchFamily="34" charset="-120"/>
                <a:hlinkClick r:id="rId13" action="ppaction://hlinksldjump" tooltip="Open the private operating reference">
                  <a:extLst>
                    <a:ext uri="{A12FA001-AC4F-418D-AE19-62706E023703}">
                      <ahyp:hlinkClr xmlns:ahyp="http://schemas.microsoft.com/office/drawing/2018/hyperlinkcolor" val="tx"/>
                    </a:ext>
                  </a:extLst>
                </a:hlinkClick>
              </a:rPr>
              <a:t>FALLBACK</a:t>
            </a:r>
            <a:endParaRPr lang="en-US" sz="1250" dirty="0"/>
          </a:p>
        </p:txBody>
      </p:sp>
      <p:sp>
        <p:nvSpPr>
          <p:cNvPr id="35" name="Text 33"/>
          <p:cNvSpPr/>
          <p:nvPr/>
        </p:nvSpPr>
        <p:spPr>
          <a:xfrm>
            <a:off x="6291072" y="5504688"/>
            <a:ext cx="5266944" cy="246888"/>
          </a:xfrm>
          <a:prstGeom prst="rect">
            <a:avLst/>
          </a:prstGeom>
          <a:noFill/>
          <a:ln/>
        </p:spPr>
        <p:txBody>
          <a:bodyPr wrap="square" lIns="0" tIns="0" rIns="0" bIns="0" rtlCol="0" anchor="t"/>
          <a:lstStyle/>
          <a:p>
            <a:pPr marL="0" indent="0">
              <a:buNone/>
            </a:pPr>
            <a:r>
              <a:rPr lang="en-US" altLang="en-US" sz="1250" dirty="0">
                <a:solidFill>
                  <a:srgbClr val="526779"/>
                </a:solidFill>
                <a:latin typeface="Segoe UI" pitchFamily="34" charset="0"/>
                <a:ea typeface="Segoe UI" pitchFamily="34" charset="-122"/>
                <a:cs typeface="Segoe UI" pitchFamily="34" charset="-120"/>
              </a:rPr>
              <a:t>Select a stage for coaching; P-ranges refer to the public deck.</a:t>
            </a:r>
            <a:endParaRPr lang="en-US" sz="1250" dirty="0"/>
          </a:p>
        </p:txBody>
      </p:sp>
      <p:sp>
        <p:nvSpPr>
          <p:cNvPr id="36" name="Shape 34"/>
          <p:cNvSpPr/>
          <p:nvPr/>
        </p:nvSpPr>
        <p:spPr>
          <a:xfrm>
            <a:off x="585216" y="5824728"/>
            <a:ext cx="10991088" cy="502920"/>
          </a:xfrm>
          <a:prstGeom prst="rect">
            <a:avLst/>
          </a:prstGeom>
          <a:solidFill>
            <a:srgbClr val="E5EEEB"/>
          </a:solidFill>
          <a:ln w="8890">
            <a:solidFill>
              <a:srgbClr val="E5EEEB"/>
            </a:solidFill>
            <a:prstDash val="solid"/>
          </a:ln>
        </p:spPr>
      </p:sp>
      <p:sp>
        <p:nvSpPr>
          <p:cNvPr id="37" name="Text 35"/>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Budget slides, demos and lab holds together. Never add video time on top.</a:t>
            </a:r>
            <a:endParaRPr lang="en-US" sz="1850" dirty="0"/>
          </a:p>
        </p:txBody>
      </p:sp>
      <p:sp>
        <p:nvSpPr>
          <p:cNvPr id="38" name="Text 36"/>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FACILITATOR ONLY / DO NOT PROJECT</a:t>
            </a:r>
            <a:endParaRPr lang="en-US" sz="1050" dirty="0"/>
          </a:p>
        </p:txBody>
      </p:sp>
      <p:sp>
        <p:nvSpPr>
          <p:cNvPr id="39" name="Text 37">
            <a:hlinkClick r:id="rId14" action="ppaction://hlinksldjump" tooltip="Go to the facilitator index"/>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14" action="ppaction://hlinksldjump" tooltip="Go to the facilitator index">
                  <a:extLst>
                    <a:ext uri="{A12FA001-AC4F-418D-AE19-62706E023703}">
                      <ahyp:hlinkClr xmlns:ahyp="http://schemas.microsoft.com/office/drawing/2018/hyperlinkcolor" val="tx"/>
                    </a:ext>
                  </a:extLst>
                </a:hlinkClick>
              </a:rPr>
              <a:t>INDEX</a:t>
            </a:r>
            <a:endParaRPr lang="en-US" sz="1100" dirty="0"/>
          </a:p>
        </p:txBody>
      </p:sp>
      <p:sp>
        <p:nvSpPr>
          <p:cNvPr id="40" name="Text 38"/>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I02 / 18</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FACILITATOR FIELD GUIDE</a:t>
            </a:r>
            <a:endParaRPr lang="en-US" sz="1150" dirty="0"/>
          </a:p>
        </p:txBody>
      </p:sp>
      <p:sp>
        <p:nvSpPr>
          <p:cNvPr id="3" name="I03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Preflight the room</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Check the room, the workspace and the operator path.</a:t>
            </a:r>
            <a:endParaRPr lang="en-US" sz="2400" dirty="0"/>
          </a:p>
        </p:txBody>
      </p:sp>
      <p:sp>
        <p:nvSpPr>
          <p:cNvPr id="5" name="Shape 3"/>
          <p:cNvSpPr/>
          <p:nvPr/>
        </p:nvSpPr>
        <p:spPr>
          <a:xfrm>
            <a:off x="585216" y="2761488"/>
            <a:ext cx="3456432" cy="2807208"/>
          </a:xfrm>
          <a:prstGeom prst="roundRect">
            <a:avLst>
              <a:gd name="adj" fmla="val 3909"/>
            </a:avLst>
          </a:prstGeom>
          <a:solidFill>
            <a:srgbClr val="FFFFFF"/>
          </a:solidFill>
          <a:ln w="8890">
            <a:solidFill>
              <a:srgbClr val="D4DDD9"/>
            </a:solidFill>
            <a:prstDash val="solid"/>
          </a:ln>
        </p:spPr>
      </p:sp>
      <p:sp>
        <p:nvSpPr>
          <p:cNvPr id="6" name="Shape 4"/>
          <p:cNvSpPr/>
          <p:nvPr/>
        </p:nvSpPr>
        <p:spPr>
          <a:xfrm>
            <a:off x="786384" y="2980944"/>
            <a:ext cx="438912" cy="438912"/>
          </a:xfrm>
          <a:prstGeom prst="ellipse">
            <a:avLst/>
          </a:prstGeom>
          <a:solidFill>
            <a:srgbClr val="102A43"/>
          </a:solidFill>
          <a:ln w="6350">
            <a:solidFill>
              <a:srgbClr val="102A43"/>
            </a:solidFill>
            <a:prstDash val="solid"/>
          </a:ln>
        </p:spPr>
      </p:sp>
      <p:sp>
        <p:nvSpPr>
          <p:cNvPr id="7" name="Text 5"/>
          <p:cNvSpPr/>
          <p:nvPr/>
        </p:nvSpPr>
        <p:spPr>
          <a:xfrm>
            <a:off x="786384" y="3055559"/>
            <a:ext cx="438912" cy="289682"/>
          </a:xfrm>
          <a:prstGeom prst="rect">
            <a:avLst/>
          </a:prstGeom>
          <a:noFill/>
          <a:ln/>
        </p:spPr>
        <p:txBody>
          <a:bodyPr wrap="square" lIns="0" tIns="0" rIns="0" bIns="0" rtlCol="0" anchor="t"/>
          <a:lstStyle/>
          <a:p>
            <a:pPr marL="0" indent="0" algn="ctr">
              <a:buNone/>
            </a:pPr>
            <a:r>
              <a:rPr lang="en-US" altLang="en-US" sz="1632" b="1" dirty="0">
                <a:solidFill>
                  <a:srgbClr val="FFFFFF"/>
                </a:solidFill>
                <a:latin typeface="Segoe UI" pitchFamily="34" charset="0"/>
                <a:ea typeface="Segoe UI" pitchFamily="34" charset="-122"/>
                <a:cs typeface="Segoe UI" pitchFamily="34" charset="-120"/>
              </a:rPr>
              <a:t>1</a:t>
            </a:r>
            <a:endParaRPr lang="en-US" sz="1632" dirty="0"/>
          </a:p>
        </p:txBody>
      </p:sp>
      <p:sp>
        <p:nvSpPr>
          <p:cNvPr id="8" name="Text 6"/>
          <p:cNvSpPr/>
          <p:nvPr/>
        </p:nvSpPr>
        <p:spPr>
          <a:xfrm>
            <a:off x="1399032" y="3026664"/>
            <a:ext cx="2450592" cy="704088"/>
          </a:xfrm>
          <a:prstGeom prst="rect">
            <a:avLst/>
          </a:prstGeom>
          <a:noFill/>
          <a:ln/>
        </p:spPr>
        <p:txBody>
          <a:bodyPr wrap="square" lIns="0" tIns="0" rIns="0" bIns="0" rtlCol="0" anchor="t"/>
          <a:lstStyle/>
          <a:p>
            <a:pPr marL="0" indent="0">
              <a:buNone/>
            </a:pPr>
            <a:r>
              <a:rPr lang="en-US" altLang="en-US" sz="2100" b="1" dirty="0">
                <a:solidFill>
                  <a:srgbClr val="0F766E"/>
                </a:solidFill>
                <a:latin typeface="Segoe UI" pitchFamily="34" charset="0"/>
                <a:ea typeface="Segoe UI" pitchFamily="34" charset="-122"/>
                <a:cs typeface="Segoe UI" pitchFamily="34" charset="-120"/>
              </a:rPr>
              <a:t>ROOM</a:t>
            </a:r>
            <a:endParaRPr lang="en-US" sz="2100" dirty="0"/>
          </a:p>
        </p:txBody>
      </p:sp>
      <p:sp>
        <p:nvSpPr>
          <p:cNvPr id="9" name="Text 7"/>
          <p:cNvSpPr/>
          <p:nvPr/>
        </p:nvSpPr>
        <p:spPr>
          <a:xfrm>
            <a:off x="768096" y="3913632"/>
            <a:ext cx="3127248" cy="1481328"/>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Projection, font rendering, readable labels and silent delivery.</a:t>
            </a:r>
            <a:endParaRPr lang="en-US" sz="2200" dirty="0"/>
          </a:p>
        </p:txBody>
      </p:sp>
      <p:sp>
        <p:nvSpPr>
          <p:cNvPr id="10" name="Shape 8"/>
          <p:cNvSpPr/>
          <p:nvPr/>
        </p:nvSpPr>
        <p:spPr>
          <a:xfrm>
            <a:off x="4352544" y="2761488"/>
            <a:ext cx="3456432" cy="2807208"/>
          </a:xfrm>
          <a:prstGeom prst="roundRect">
            <a:avLst>
              <a:gd name="adj" fmla="val 3909"/>
            </a:avLst>
          </a:prstGeom>
          <a:solidFill>
            <a:srgbClr val="FFFFFF"/>
          </a:solidFill>
          <a:ln w="8890">
            <a:solidFill>
              <a:srgbClr val="D4DDD9"/>
            </a:solidFill>
            <a:prstDash val="solid"/>
          </a:ln>
        </p:spPr>
      </p:sp>
      <p:sp>
        <p:nvSpPr>
          <p:cNvPr id="11" name="Shape 9"/>
          <p:cNvSpPr/>
          <p:nvPr/>
        </p:nvSpPr>
        <p:spPr>
          <a:xfrm>
            <a:off x="4553712" y="2980944"/>
            <a:ext cx="438912" cy="438912"/>
          </a:xfrm>
          <a:prstGeom prst="ellipse">
            <a:avLst/>
          </a:prstGeom>
          <a:solidFill>
            <a:srgbClr val="0F766E"/>
          </a:solidFill>
          <a:ln w="6350">
            <a:solidFill>
              <a:srgbClr val="0F766E"/>
            </a:solidFill>
            <a:prstDash val="solid"/>
          </a:ln>
        </p:spPr>
      </p:sp>
      <p:sp>
        <p:nvSpPr>
          <p:cNvPr id="12" name="Text 10"/>
          <p:cNvSpPr/>
          <p:nvPr/>
        </p:nvSpPr>
        <p:spPr>
          <a:xfrm>
            <a:off x="4553712" y="3055559"/>
            <a:ext cx="438912" cy="289682"/>
          </a:xfrm>
          <a:prstGeom prst="rect">
            <a:avLst/>
          </a:prstGeom>
          <a:noFill/>
          <a:ln/>
        </p:spPr>
        <p:txBody>
          <a:bodyPr wrap="square" lIns="0" tIns="0" rIns="0" bIns="0" rtlCol="0" anchor="t"/>
          <a:lstStyle/>
          <a:p>
            <a:pPr marL="0" indent="0" algn="ctr">
              <a:buNone/>
            </a:pPr>
            <a:r>
              <a:rPr lang="en-US" altLang="en-US" sz="1632" b="1" dirty="0">
                <a:solidFill>
                  <a:srgbClr val="FFFFFF"/>
                </a:solidFill>
                <a:latin typeface="Segoe UI" pitchFamily="34" charset="0"/>
                <a:ea typeface="Segoe UI" pitchFamily="34" charset="-122"/>
                <a:cs typeface="Segoe UI" pitchFamily="34" charset="-120"/>
              </a:rPr>
              <a:t>2</a:t>
            </a:r>
            <a:endParaRPr lang="en-US" sz="1632" dirty="0"/>
          </a:p>
        </p:txBody>
      </p:sp>
      <p:sp>
        <p:nvSpPr>
          <p:cNvPr id="13" name="Text 11"/>
          <p:cNvSpPr/>
          <p:nvPr/>
        </p:nvSpPr>
        <p:spPr>
          <a:xfrm>
            <a:off x="5166360" y="3026664"/>
            <a:ext cx="2450592" cy="704088"/>
          </a:xfrm>
          <a:prstGeom prst="rect">
            <a:avLst/>
          </a:prstGeom>
          <a:noFill/>
          <a:ln/>
        </p:spPr>
        <p:txBody>
          <a:bodyPr wrap="square" lIns="0" tIns="0" rIns="0" bIns="0" rtlCol="0" anchor="t"/>
          <a:lstStyle/>
          <a:p>
            <a:pPr marL="0" indent="0">
              <a:buNone/>
            </a:pPr>
            <a:r>
              <a:rPr lang="en-US" altLang="en-US" sz="2100" b="1" dirty="0">
                <a:solidFill>
                  <a:srgbClr val="0F766E"/>
                </a:solidFill>
                <a:latin typeface="Segoe UI" pitchFamily="34" charset="0"/>
                <a:ea typeface="Segoe UI" pitchFamily="34" charset="-122"/>
                <a:cs typeface="Segoe UI" pitchFamily="34" charset="-120"/>
              </a:rPr>
              <a:t>WORKSPACE</a:t>
            </a:r>
            <a:endParaRPr lang="en-US" sz="2100" dirty="0"/>
          </a:p>
        </p:txBody>
      </p:sp>
      <p:sp>
        <p:nvSpPr>
          <p:cNvPr id="14" name="Text 12"/>
          <p:cNvSpPr/>
          <p:nvPr/>
        </p:nvSpPr>
        <p:spPr>
          <a:xfrm>
            <a:off x="4535424" y="3913632"/>
            <a:ext cx="3127248" cy="1481328"/>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VS Code, intended harness, access, participant package and fixtures.</a:t>
            </a:r>
            <a:endParaRPr lang="en-US" sz="2200" dirty="0"/>
          </a:p>
        </p:txBody>
      </p:sp>
      <p:sp>
        <p:nvSpPr>
          <p:cNvPr id="15" name="Shape 13"/>
          <p:cNvSpPr/>
          <p:nvPr/>
        </p:nvSpPr>
        <p:spPr>
          <a:xfrm>
            <a:off x="8119872" y="2761488"/>
            <a:ext cx="3456432" cy="2807208"/>
          </a:xfrm>
          <a:prstGeom prst="roundRect">
            <a:avLst>
              <a:gd name="adj" fmla="val 3909"/>
            </a:avLst>
          </a:prstGeom>
          <a:solidFill>
            <a:srgbClr val="FFFFFF"/>
          </a:solidFill>
          <a:ln w="8890">
            <a:solidFill>
              <a:srgbClr val="D4DDD9"/>
            </a:solidFill>
            <a:prstDash val="solid"/>
          </a:ln>
        </p:spPr>
      </p:sp>
      <p:sp>
        <p:nvSpPr>
          <p:cNvPr id="16" name="Shape 14"/>
          <p:cNvSpPr/>
          <p:nvPr/>
        </p:nvSpPr>
        <p:spPr>
          <a:xfrm>
            <a:off x="8321040" y="2980944"/>
            <a:ext cx="438912" cy="438912"/>
          </a:xfrm>
          <a:prstGeom prst="ellipse">
            <a:avLst/>
          </a:prstGeom>
          <a:solidFill>
            <a:srgbClr val="102A43"/>
          </a:solidFill>
          <a:ln w="6350">
            <a:solidFill>
              <a:srgbClr val="102A43"/>
            </a:solidFill>
            <a:prstDash val="solid"/>
          </a:ln>
        </p:spPr>
      </p:sp>
      <p:sp>
        <p:nvSpPr>
          <p:cNvPr id="17" name="Text 15"/>
          <p:cNvSpPr/>
          <p:nvPr/>
        </p:nvSpPr>
        <p:spPr>
          <a:xfrm>
            <a:off x="8321040" y="3055559"/>
            <a:ext cx="438912" cy="289682"/>
          </a:xfrm>
          <a:prstGeom prst="rect">
            <a:avLst/>
          </a:prstGeom>
          <a:noFill/>
          <a:ln/>
        </p:spPr>
        <p:txBody>
          <a:bodyPr wrap="square" lIns="0" tIns="0" rIns="0" bIns="0" rtlCol="0" anchor="t"/>
          <a:lstStyle/>
          <a:p>
            <a:pPr marL="0" indent="0" algn="ctr">
              <a:buNone/>
            </a:pPr>
            <a:r>
              <a:rPr lang="en-US" altLang="en-US" sz="1632" b="1" dirty="0">
                <a:solidFill>
                  <a:srgbClr val="FFFFFF"/>
                </a:solidFill>
                <a:latin typeface="Segoe UI" pitchFamily="34" charset="0"/>
                <a:ea typeface="Segoe UI" pitchFamily="34" charset="-122"/>
                <a:cs typeface="Segoe UI" pitchFamily="34" charset="-120"/>
              </a:rPr>
              <a:t>3</a:t>
            </a:r>
            <a:endParaRPr lang="en-US" sz="1632" dirty="0"/>
          </a:p>
        </p:txBody>
      </p:sp>
      <p:sp>
        <p:nvSpPr>
          <p:cNvPr id="18" name="Text 16"/>
          <p:cNvSpPr/>
          <p:nvPr/>
        </p:nvSpPr>
        <p:spPr>
          <a:xfrm>
            <a:off x="8933688" y="3026664"/>
            <a:ext cx="2450592" cy="704088"/>
          </a:xfrm>
          <a:prstGeom prst="rect">
            <a:avLst/>
          </a:prstGeom>
          <a:noFill/>
          <a:ln/>
        </p:spPr>
        <p:txBody>
          <a:bodyPr wrap="square" lIns="0" tIns="0" rIns="0" bIns="0" rtlCol="0" anchor="t"/>
          <a:lstStyle/>
          <a:p>
            <a:pPr marL="0" indent="0">
              <a:buNone/>
            </a:pPr>
            <a:r>
              <a:rPr lang="en-US" altLang="en-US" sz="2100" b="1" dirty="0">
                <a:solidFill>
                  <a:srgbClr val="0F766E"/>
                </a:solidFill>
                <a:latin typeface="Segoe UI" pitchFamily="34" charset="0"/>
                <a:ea typeface="Segoe UI" pitchFamily="34" charset="-122"/>
                <a:cs typeface="Segoe UI" pitchFamily="34" charset="-120"/>
              </a:rPr>
              <a:t>OPERATION</a:t>
            </a:r>
            <a:endParaRPr lang="en-US" sz="2100" dirty="0"/>
          </a:p>
        </p:txBody>
      </p:sp>
      <p:sp>
        <p:nvSpPr>
          <p:cNvPr id="19" name="Text 17"/>
          <p:cNvSpPr/>
          <p:nvPr/>
        </p:nvSpPr>
        <p:spPr>
          <a:xfrm>
            <a:off x="8302752" y="3913632"/>
            <a:ext cx="3127248" cy="1481328"/>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Event setup, public projection, support owner and fallback artifacts.</a:t>
            </a:r>
            <a:endParaRPr lang="en-US" sz="2200" dirty="0"/>
          </a:p>
        </p:txBody>
      </p:sp>
      <p:sp>
        <p:nvSpPr>
          <p:cNvPr id="20" name="Shape 18"/>
          <p:cNvSpPr/>
          <p:nvPr/>
        </p:nvSpPr>
        <p:spPr>
          <a:xfrm>
            <a:off x="585216" y="5824728"/>
            <a:ext cx="10991088" cy="502920"/>
          </a:xfrm>
          <a:prstGeom prst="rect">
            <a:avLst/>
          </a:prstGeom>
          <a:solidFill>
            <a:srgbClr val="E5EEEB"/>
          </a:solidFill>
          <a:ln w="8890">
            <a:solidFill>
              <a:srgbClr val="E5EEEB"/>
            </a:solidFill>
            <a:prstDash val="solid"/>
          </a:ln>
        </p:spPr>
      </p:sp>
      <p:sp>
        <p:nvSpPr>
          <p:cNvPr id="21" name="Text 19"/>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A clean slide render is not an end-to-end event rehearsal.</a:t>
            </a:r>
            <a:endParaRPr lang="en-US" sz="1850" dirty="0"/>
          </a:p>
        </p:txBody>
      </p:sp>
      <p:sp>
        <p:nvSpPr>
          <p:cNvPr id="22" name="Text 20"/>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FACILITATOR ONLY / DO NOT PROJECT</a:t>
            </a:r>
            <a:endParaRPr lang="en-US" sz="1050" dirty="0"/>
          </a:p>
        </p:txBody>
      </p:sp>
      <p:sp>
        <p:nvSpPr>
          <p:cNvPr id="23" name="Text 21">
            <a:hlinkClick r:id="rId3" action="ppaction://hlinksldjump" tooltip="Go to the facilitator index"/>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facilitator index">
                  <a:extLst>
                    <a:ext uri="{A12FA001-AC4F-418D-AE19-62706E023703}">
                      <ahyp:hlinkClr xmlns:ahyp="http://schemas.microsoft.com/office/drawing/2018/hyperlinkcolor" val="tx"/>
                    </a:ext>
                  </a:extLst>
                </a:hlinkClick>
              </a:rPr>
              <a:t>INDEX</a:t>
            </a:r>
            <a:endParaRPr lang="en-US" sz="1100" dirty="0"/>
          </a:p>
        </p:txBody>
      </p:sp>
      <p:sp>
        <p:nvSpPr>
          <p:cNvPr id="24" name="Text 22"/>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I03 / 18</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FACILITATOR FIELD GUIDE</a:t>
            </a:r>
            <a:endParaRPr lang="en-US" sz="1150" dirty="0"/>
          </a:p>
        </p:txBody>
      </p:sp>
      <p:sp>
        <p:nvSpPr>
          <p:cNvPr id="3" name="I04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Go / no-go before projection</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Do not present unresolved integration assumptions as working demos.</a:t>
            </a:r>
            <a:endParaRPr lang="en-US" sz="2400" dirty="0"/>
          </a:p>
        </p:txBody>
      </p:sp>
      <p:sp>
        <p:nvSpPr>
          <p:cNvPr id="5" name="Shape 3"/>
          <p:cNvSpPr/>
          <p:nvPr/>
        </p:nvSpPr>
        <p:spPr>
          <a:xfrm>
            <a:off x="585216" y="2743200"/>
            <a:ext cx="5285232" cy="1188720"/>
          </a:xfrm>
          <a:prstGeom prst="roundRect">
            <a:avLst>
              <a:gd name="adj" fmla="val 9231"/>
            </a:avLst>
          </a:prstGeom>
          <a:solidFill>
            <a:srgbClr val="FFFFFF"/>
          </a:solidFill>
          <a:ln w="8890">
            <a:solidFill>
              <a:srgbClr val="D4DDD9"/>
            </a:solidFill>
            <a:prstDash val="solid"/>
          </a:ln>
        </p:spPr>
      </p:sp>
      <p:sp>
        <p:nvSpPr>
          <p:cNvPr id="6" name="Text 4"/>
          <p:cNvSpPr/>
          <p:nvPr/>
        </p:nvSpPr>
        <p:spPr>
          <a:xfrm>
            <a:off x="749808" y="2907792"/>
            <a:ext cx="1271016" cy="402336"/>
          </a:xfrm>
          <a:prstGeom prst="rect">
            <a:avLst/>
          </a:prstGeom>
          <a:noFill/>
          <a:ln/>
        </p:spPr>
        <p:txBody>
          <a:bodyPr wrap="square" lIns="0" tIns="0" rIns="0" bIns="0" rtlCol="0" anchor="t"/>
          <a:lstStyle/>
          <a:p>
            <a:pPr marL="0" indent="0">
              <a:buNone/>
            </a:pPr>
            <a:r>
              <a:rPr lang="en-US" altLang="en-US" sz="1900" b="1" dirty="0">
                <a:solidFill>
                  <a:srgbClr val="0F766E"/>
                </a:solidFill>
                <a:latin typeface="Segoe UI" pitchFamily="34" charset="0"/>
                <a:ea typeface="Segoe UI" pitchFamily="34" charset="-122"/>
                <a:cs typeface="Segoe UI" pitchFamily="34" charset="-120"/>
              </a:rPr>
              <a:t>M1</a:t>
            </a:r>
            <a:endParaRPr lang="en-US" sz="1900" dirty="0"/>
          </a:p>
        </p:txBody>
      </p:sp>
      <p:sp>
        <p:nvSpPr>
          <p:cNvPr id="7" name="Text 5"/>
          <p:cNvSpPr/>
          <p:nvPr/>
        </p:nvSpPr>
        <p:spPr>
          <a:xfrm>
            <a:off x="2084832" y="2880360"/>
            <a:ext cx="3621024" cy="987552"/>
          </a:xfrm>
          <a:prstGeom prst="rect">
            <a:avLst/>
          </a:prstGeom>
          <a:noFill/>
          <a:ln/>
        </p:spPr>
        <p:txBody>
          <a:bodyPr wrap="square" lIns="0" tIns="0" rIns="0" bIns="0" rtlCol="0" anchor="t"/>
          <a:lstStyle/>
          <a:p>
            <a:pPr marL="0" indent="0">
              <a:buNone/>
            </a:pPr>
            <a:r>
              <a:rPr lang="en-US" altLang="en-US" sz="2000" dirty="0">
                <a:solidFill>
                  <a:srgbClr val="102A43"/>
                </a:solidFill>
                <a:latin typeface="Segoe UI" pitchFamily="34" charset="0"/>
                <a:ea typeface="Segoe UI" pitchFamily="34" charset="-122"/>
                <a:cs typeface="Segoe UI" pitchFamily="34" charset="-120"/>
              </a:rPr>
              <a:t>Reconcile mission ID and the starter output schema.</a:t>
            </a:r>
            <a:endParaRPr lang="en-US" sz="2000" dirty="0"/>
          </a:p>
        </p:txBody>
      </p:sp>
      <p:sp>
        <p:nvSpPr>
          <p:cNvPr id="8" name="Shape 6"/>
          <p:cNvSpPr/>
          <p:nvPr/>
        </p:nvSpPr>
        <p:spPr>
          <a:xfrm>
            <a:off x="6291072" y="2743200"/>
            <a:ext cx="5285232" cy="1188720"/>
          </a:xfrm>
          <a:prstGeom prst="roundRect">
            <a:avLst>
              <a:gd name="adj" fmla="val 9231"/>
            </a:avLst>
          </a:prstGeom>
          <a:solidFill>
            <a:srgbClr val="FFFFFF"/>
          </a:solidFill>
          <a:ln w="8890">
            <a:solidFill>
              <a:srgbClr val="D4DDD9"/>
            </a:solidFill>
            <a:prstDash val="solid"/>
          </a:ln>
        </p:spPr>
      </p:sp>
      <p:sp>
        <p:nvSpPr>
          <p:cNvPr id="9" name="Text 7"/>
          <p:cNvSpPr/>
          <p:nvPr/>
        </p:nvSpPr>
        <p:spPr>
          <a:xfrm>
            <a:off x="6455664" y="2907792"/>
            <a:ext cx="1271016" cy="402336"/>
          </a:xfrm>
          <a:prstGeom prst="rect">
            <a:avLst/>
          </a:prstGeom>
          <a:noFill/>
          <a:ln/>
        </p:spPr>
        <p:txBody>
          <a:bodyPr wrap="square" lIns="0" tIns="0" rIns="0" bIns="0" rtlCol="0" anchor="t"/>
          <a:lstStyle/>
          <a:p>
            <a:pPr marL="0" indent="0">
              <a:buNone/>
            </a:pPr>
            <a:r>
              <a:rPr lang="en-US" altLang="en-US" sz="1900" b="1" dirty="0">
                <a:solidFill>
                  <a:srgbClr val="0F766E"/>
                </a:solidFill>
                <a:latin typeface="Segoe UI" pitchFamily="34" charset="0"/>
                <a:ea typeface="Segoe UI" pitchFamily="34" charset="-122"/>
                <a:cs typeface="Segoe UI" pitchFamily="34" charset="-120"/>
              </a:rPr>
              <a:t>M3</a:t>
            </a:r>
            <a:endParaRPr lang="en-US" sz="1900" dirty="0"/>
          </a:p>
        </p:txBody>
      </p:sp>
      <p:sp>
        <p:nvSpPr>
          <p:cNvPr id="10" name="Text 8"/>
          <p:cNvSpPr/>
          <p:nvPr/>
        </p:nvSpPr>
        <p:spPr>
          <a:xfrm>
            <a:off x="7790688" y="2880360"/>
            <a:ext cx="3621024" cy="987552"/>
          </a:xfrm>
          <a:prstGeom prst="rect">
            <a:avLst/>
          </a:prstGeom>
          <a:noFill/>
          <a:ln/>
        </p:spPr>
        <p:txBody>
          <a:bodyPr wrap="square" lIns="0" tIns="0" rIns="0" bIns="0" rtlCol="0" anchor="t"/>
          <a:lstStyle/>
          <a:p>
            <a:pPr marL="0" indent="0">
              <a:buNone/>
            </a:pPr>
            <a:r>
              <a:rPr lang="en-US" altLang="en-US" sz="2000" dirty="0">
                <a:solidFill>
                  <a:srgbClr val="102A43"/>
                </a:solidFill>
                <a:latin typeface="Segoe UI" pitchFamily="34" charset="0"/>
                <a:ea typeface="Segoe UI" pitchFamily="34" charset="-122"/>
                <a:cs typeface="Segoe UI" pitchFamily="34" charset="-120"/>
              </a:rPr>
              <a:t>Resolve shelters versus shelter in the tool trace.</a:t>
            </a:r>
            <a:endParaRPr lang="en-US" sz="2000" dirty="0"/>
          </a:p>
        </p:txBody>
      </p:sp>
      <p:sp>
        <p:nvSpPr>
          <p:cNvPr id="11" name="Shape 9"/>
          <p:cNvSpPr/>
          <p:nvPr/>
        </p:nvSpPr>
        <p:spPr>
          <a:xfrm>
            <a:off x="585216" y="4133088"/>
            <a:ext cx="5285232" cy="1188720"/>
          </a:xfrm>
          <a:prstGeom prst="roundRect">
            <a:avLst>
              <a:gd name="adj" fmla="val 9231"/>
            </a:avLst>
          </a:prstGeom>
          <a:solidFill>
            <a:srgbClr val="FFFFFF"/>
          </a:solidFill>
          <a:ln w="8890">
            <a:solidFill>
              <a:srgbClr val="D4DDD9"/>
            </a:solidFill>
            <a:prstDash val="solid"/>
          </a:ln>
        </p:spPr>
      </p:sp>
      <p:sp>
        <p:nvSpPr>
          <p:cNvPr id="12" name="Text 10"/>
          <p:cNvSpPr/>
          <p:nvPr/>
        </p:nvSpPr>
        <p:spPr>
          <a:xfrm>
            <a:off x="749808" y="4297680"/>
            <a:ext cx="1271016" cy="402336"/>
          </a:xfrm>
          <a:prstGeom prst="rect">
            <a:avLst/>
          </a:prstGeom>
          <a:noFill/>
          <a:ln/>
        </p:spPr>
        <p:txBody>
          <a:bodyPr wrap="square" lIns="0" tIns="0" rIns="0" bIns="0" rtlCol="0" anchor="t"/>
          <a:lstStyle/>
          <a:p>
            <a:pPr marL="0" indent="0">
              <a:buNone/>
            </a:pPr>
            <a:r>
              <a:rPr lang="en-US" altLang="en-US" sz="1900" b="1" dirty="0">
                <a:solidFill>
                  <a:srgbClr val="0F766E"/>
                </a:solidFill>
                <a:latin typeface="Segoe UI" pitchFamily="34" charset="0"/>
                <a:ea typeface="Segoe UI" pitchFamily="34" charset="-122"/>
                <a:cs typeface="Segoe UI" pitchFamily="34" charset="-120"/>
              </a:rPr>
              <a:t>M5</a:t>
            </a:r>
            <a:endParaRPr lang="en-US" sz="1900" dirty="0"/>
          </a:p>
        </p:txBody>
      </p:sp>
      <p:sp>
        <p:nvSpPr>
          <p:cNvPr id="13" name="Text 11"/>
          <p:cNvSpPr/>
          <p:nvPr/>
        </p:nvSpPr>
        <p:spPr>
          <a:xfrm>
            <a:off x="2084832" y="4270248"/>
            <a:ext cx="3621024" cy="987552"/>
          </a:xfrm>
          <a:prstGeom prst="rect">
            <a:avLst/>
          </a:prstGeom>
          <a:noFill/>
          <a:ln/>
        </p:spPr>
        <p:txBody>
          <a:bodyPr wrap="square" lIns="0" tIns="0" rIns="0" bIns="0" rtlCol="0" anchor="t"/>
          <a:lstStyle/>
          <a:p>
            <a:pPr marL="0" indent="0">
              <a:buNone/>
            </a:pPr>
            <a:r>
              <a:rPr lang="en-US" altLang="en-US" sz="2000" dirty="0">
                <a:solidFill>
                  <a:srgbClr val="102A43"/>
                </a:solidFill>
                <a:latin typeface="Segoe UI" pitchFamily="34" charset="0"/>
                <a:ea typeface="Segoe UI" pitchFamily="34" charset="-122"/>
                <a:cs typeface="Segoe UI" pitchFamily="34" charset="-120"/>
              </a:rPr>
              <a:t>Demonstrate how the envelope reaches the detailed validator.</a:t>
            </a:r>
            <a:endParaRPr lang="en-US" sz="2000" dirty="0"/>
          </a:p>
        </p:txBody>
      </p:sp>
      <p:sp>
        <p:nvSpPr>
          <p:cNvPr id="14" name="Shape 12"/>
          <p:cNvSpPr/>
          <p:nvPr/>
        </p:nvSpPr>
        <p:spPr>
          <a:xfrm>
            <a:off x="6291072" y="4133088"/>
            <a:ext cx="5285232" cy="1188720"/>
          </a:xfrm>
          <a:prstGeom prst="roundRect">
            <a:avLst>
              <a:gd name="adj" fmla="val 9231"/>
            </a:avLst>
          </a:prstGeom>
          <a:solidFill>
            <a:srgbClr val="FFFFFF"/>
          </a:solidFill>
          <a:ln w="8890">
            <a:solidFill>
              <a:srgbClr val="D4DDD9"/>
            </a:solidFill>
            <a:prstDash val="solid"/>
          </a:ln>
        </p:spPr>
      </p:sp>
      <p:sp>
        <p:nvSpPr>
          <p:cNvPr id="15" name="Text 13"/>
          <p:cNvSpPr/>
          <p:nvPr/>
        </p:nvSpPr>
        <p:spPr>
          <a:xfrm>
            <a:off x="6455664" y="4297680"/>
            <a:ext cx="1271016" cy="402336"/>
          </a:xfrm>
          <a:prstGeom prst="rect">
            <a:avLst/>
          </a:prstGeom>
          <a:noFill/>
          <a:ln/>
        </p:spPr>
        <p:txBody>
          <a:bodyPr wrap="square" lIns="0" tIns="0" rIns="0" bIns="0" rtlCol="0" anchor="t"/>
          <a:lstStyle/>
          <a:p>
            <a:pPr marL="0" indent="0">
              <a:buNone/>
            </a:pPr>
            <a:r>
              <a:rPr lang="en-US" altLang="en-US" sz="1900" b="1" dirty="0">
                <a:solidFill>
                  <a:srgbClr val="0F766E"/>
                </a:solidFill>
                <a:latin typeface="Segoe UI" pitchFamily="34" charset="0"/>
                <a:ea typeface="Segoe UI" pitchFamily="34" charset="-122"/>
                <a:cs typeface="Segoe UI" pitchFamily="34" charset="-120"/>
              </a:rPr>
              <a:t>DISPLAY</a:t>
            </a:r>
            <a:endParaRPr lang="en-US" sz="1900" dirty="0"/>
          </a:p>
        </p:txBody>
      </p:sp>
      <p:sp>
        <p:nvSpPr>
          <p:cNvPr id="16" name="Text 14"/>
          <p:cNvSpPr/>
          <p:nvPr/>
        </p:nvSpPr>
        <p:spPr>
          <a:xfrm>
            <a:off x="7790688" y="4270248"/>
            <a:ext cx="3621024" cy="987552"/>
          </a:xfrm>
          <a:prstGeom prst="rect">
            <a:avLst/>
          </a:prstGeom>
          <a:noFill/>
          <a:ln/>
        </p:spPr>
        <p:txBody>
          <a:bodyPr wrap="square" lIns="0" tIns="0" rIns="0" bIns="0" rtlCol="0" anchor="t"/>
          <a:lstStyle/>
          <a:p>
            <a:pPr marL="0" indent="0">
              <a:buNone/>
            </a:pPr>
            <a:r>
              <a:rPr lang="en-US" altLang="en-US" sz="2000" dirty="0">
                <a:solidFill>
                  <a:srgbClr val="102A43"/>
                </a:solidFill>
                <a:latin typeface="Segoe UI" pitchFamily="34" charset="0"/>
                <a:ea typeface="Segoe UI" pitchFamily="34" charset="-122"/>
                <a:cs typeface="Segoe UI" pitchFamily="34" charset="-120"/>
              </a:rPr>
              <a:t>Replace default sample state or label it as a demonstration.</a:t>
            </a:r>
            <a:endParaRPr lang="en-US" sz="2000" dirty="0"/>
          </a:p>
        </p:txBody>
      </p:sp>
      <p:sp>
        <p:nvSpPr>
          <p:cNvPr id="17" name="Shape 15"/>
          <p:cNvSpPr/>
          <p:nvPr/>
        </p:nvSpPr>
        <p:spPr>
          <a:xfrm>
            <a:off x="585216" y="5824728"/>
            <a:ext cx="10991088" cy="502920"/>
          </a:xfrm>
          <a:prstGeom prst="rect">
            <a:avLst/>
          </a:prstGeom>
          <a:solidFill>
            <a:srgbClr val="E5EEEB"/>
          </a:solidFill>
          <a:ln w="8890">
            <a:solidFill>
              <a:srgbClr val="E5EEEB"/>
            </a:solidFill>
            <a:prstDash val="solid"/>
          </a:ln>
        </p:spPr>
      </p:sp>
      <p:sp>
        <p:nvSpPr>
          <p:cNvPr id="18" name="Text 16"/>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Full readiness detail is in the production plan, section 10.</a:t>
            </a:r>
            <a:endParaRPr lang="en-US" sz="1850" dirty="0"/>
          </a:p>
        </p:txBody>
      </p:sp>
      <p:sp>
        <p:nvSpPr>
          <p:cNvPr id="19" name="Text 17"/>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FACILITATOR ONLY / DO NOT PROJECT</a:t>
            </a:r>
            <a:endParaRPr lang="en-US" sz="1050" dirty="0"/>
          </a:p>
        </p:txBody>
      </p:sp>
      <p:sp>
        <p:nvSpPr>
          <p:cNvPr id="20" name="Text 18">
            <a:hlinkClick r:id="rId3" action="ppaction://hlinksldjump" tooltip="Go to the facilitator index"/>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facilitator index">
                  <a:extLst>
                    <a:ext uri="{A12FA001-AC4F-418D-AE19-62706E023703}">
                      <ahyp:hlinkClr xmlns:ahyp="http://schemas.microsoft.com/office/drawing/2018/hyperlinkcolor" val="tx"/>
                    </a:ext>
                  </a:extLst>
                </a:hlinkClick>
              </a:rPr>
              <a:t>INDEX</a:t>
            </a:r>
            <a:endParaRPr lang="en-US" sz="1100" dirty="0"/>
          </a:p>
        </p:txBody>
      </p:sp>
      <p:sp>
        <p:nvSpPr>
          <p:cNvPr id="21" name="Text 19"/>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I04 / 18</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FACILITATOR FIELD GUIDE</a:t>
            </a:r>
            <a:endParaRPr lang="en-US" sz="1150" dirty="0"/>
          </a:p>
        </p:txBody>
      </p:sp>
      <p:sp>
        <p:nvSpPr>
          <p:cNvPr id="3" name="I05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Control the show</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Make every screen switch deliberate.</a:t>
            </a:r>
            <a:endParaRPr lang="en-US" sz="2400" dirty="0"/>
          </a:p>
        </p:txBody>
      </p:sp>
      <p:sp>
        <p:nvSpPr>
          <p:cNvPr id="5" name="Shape 3"/>
          <p:cNvSpPr/>
          <p:nvPr/>
        </p:nvSpPr>
        <p:spPr>
          <a:xfrm>
            <a:off x="585216" y="2752344"/>
            <a:ext cx="10991088" cy="859536"/>
          </a:xfrm>
          <a:prstGeom prst="roundRect">
            <a:avLst>
              <a:gd name="adj" fmla="val 12766"/>
            </a:avLst>
          </a:prstGeom>
          <a:solidFill>
            <a:srgbClr val="FFFFFF"/>
          </a:solidFill>
          <a:ln w="8890">
            <a:solidFill>
              <a:srgbClr val="D4DDD9"/>
            </a:solidFill>
            <a:prstDash val="solid"/>
          </a:ln>
        </p:spPr>
      </p:sp>
      <p:sp>
        <p:nvSpPr>
          <p:cNvPr id="6" name="Text 4"/>
          <p:cNvSpPr/>
          <p:nvPr/>
        </p:nvSpPr>
        <p:spPr>
          <a:xfrm>
            <a:off x="740664" y="2935224"/>
            <a:ext cx="1371600" cy="384048"/>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BEFORE</a:t>
            </a:r>
            <a:endParaRPr lang="en-US" sz="1800" dirty="0"/>
          </a:p>
        </p:txBody>
      </p:sp>
      <p:sp>
        <p:nvSpPr>
          <p:cNvPr id="7" name="Text 5"/>
          <p:cNvSpPr/>
          <p:nvPr/>
        </p:nvSpPr>
        <p:spPr>
          <a:xfrm>
            <a:off x="2231136" y="2816352"/>
            <a:ext cx="4526280" cy="731520"/>
          </a:xfrm>
          <a:prstGeom prst="rect">
            <a:avLst/>
          </a:prstGeom>
          <a:noFill/>
          <a:ln/>
        </p:spPr>
        <p:txBody>
          <a:bodyPr wrap="square" lIns="0" tIns="0" rIns="0" bIns="0" rtlCol="0" anchor="t"/>
          <a:lstStyle/>
          <a:p>
            <a:pPr marL="0" indent="0">
              <a:buNone/>
            </a:pPr>
            <a:r>
              <a:rPr lang="en-US" altLang="en-US" sz="2300" b="1" dirty="0">
                <a:solidFill>
                  <a:srgbClr val="102A43"/>
                </a:solidFill>
                <a:latin typeface="Segoe UI" pitchFamily="34" charset="0"/>
                <a:ea typeface="Segoe UI" pitchFamily="34" charset="-122"/>
                <a:cs typeface="Segoe UI" pitchFamily="34" charset="-120"/>
              </a:rPr>
              <a:t>Name what to observe</a:t>
            </a:r>
            <a:endParaRPr lang="en-US" sz="2300" dirty="0"/>
          </a:p>
        </p:txBody>
      </p:sp>
      <p:sp>
        <p:nvSpPr>
          <p:cNvPr id="8" name="Text 6"/>
          <p:cNvSpPr/>
          <p:nvPr/>
        </p:nvSpPr>
        <p:spPr>
          <a:xfrm>
            <a:off x="6949440" y="2852928"/>
            <a:ext cx="4443984" cy="685800"/>
          </a:xfrm>
          <a:prstGeom prst="rect">
            <a:avLst/>
          </a:prstGeom>
          <a:noFill/>
          <a:ln/>
        </p:spPr>
        <p:txBody>
          <a:bodyPr wrap="square" lIns="0" tIns="0" rIns="0" bIns="0" rtlCol="0" anchor="t"/>
          <a:lstStyle/>
          <a:p>
            <a:pPr marL="0" indent="0">
              <a:buNone/>
            </a:pPr>
            <a:r>
              <a:rPr lang="en-US" altLang="en-US" sz="2000" dirty="0">
                <a:solidFill>
                  <a:srgbClr val="526779"/>
                </a:solidFill>
                <a:latin typeface="Segoe UI" pitchFamily="34" charset="0"/>
                <a:ea typeface="Segoe UI" pitchFamily="34" charset="-122"/>
                <a:cs typeface="Segoe UI" pitchFamily="34" charset="-120"/>
              </a:rPr>
              <a:t>Use the public demo-cue slide.</a:t>
            </a:r>
            <a:endParaRPr lang="en-US" sz="2000" dirty="0"/>
          </a:p>
        </p:txBody>
      </p:sp>
      <p:sp>
        <p:nvSpPr>
          <p:cNvPr id="9" name="Shape 7"/>
          <p:cNvSpPr/>
          <p:nvPr/>
        </p:nvSpPr>
        <p:spPr>
          <a:xfrm>
            <a:off x="585216" y="3712464"/>
            <a:ext cx="10991088" cy="859536"/>
          </a:xfrm>
          <a:prstGeom prst="roundRect">
            <a:avLst>
              <a:gd name="adj" fmla="val 12766"/>
            </a:avLst>
          </a:prstGeom>
          <a:solidFill>
            <a:srgbClr val="E5EEEB"/>
          </a:solidFill>
          <a:ln w="8890">
            <a:solidFill>
              <a:srgbClr val="D4DDD9"/>
            </a:solidFill>
            <a:prstDash val="solid"/>
          </a:ln>
        </p:spPr>
      </p:sp>
      <p:sp>
        <p:nvSpPr>
          <p:cNvPr id="10" name="Text 8"/>
          <p:cNvSpPr/>
          <p:nvPr/>
        </p:nvSpPr>
        <p:spPr>
          <a:xfrm>
            <a:off x="740664" y="3895344"/>
            <a:ext cx="1371600" cy="384048"/>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DURING</a:t>
            </a:r>
            <a:endParaRPr lang="en-US" sz="1800" dirty="0"/>
          </a:p>
        </p:txBody>
      </p:sp>
      <p:sp>
        <p:nvSpPr>
          <p:cNvPr id="11" name="Text 9"/>
          <p:cNvSpPr/>
          <p:nvPr/>
        </p:nvSpPr>
        <p:spPr>
          <a:xfrm>
            <a:off x="2231136" y="3776472"/>
            <a:ext cx="4526280" cy="731520"/>
          </a:xfrm>
          <a:prstGeom prst="rect">
            <a:avLst/>
          </a:prstGeom>
          <a:noFill/>
          <a:ln/>
        </p:spPr>
        <p:txBody>
          <a:bodyPr wrap="square" lIns="0" tIns="0" rIns="0" bIns="0" rtlCol="0" anchor="t"/>
          <a:lstStyle/>
          <a:p>
            <a:pPr marL="0" indent="0">
              <a:buNone/>
            </a:pPr>
            <a:r>
              <a:rPr lang="en-US" altLang="en-US" sz="2300" b="1" dirty="0">
                <a:solidFill>
                  <a:srgbClr val="102A43"/>
                </a:solidFill>
                <a:latin typeface="Segoe UI" pitchFamily="34" charset="0"/>
                <a:ea typeface="Segoe UI" pitchFamily="34" charset="-122"/>
                <a:cs typeface="Segoe UI" pitchFamily="34" charset="-120"/>
              </a:rPr>
              <a:t>Share only the intended window</a:t>
            </a:r>
            <a:endParaRPr lang="en-US" sz="2300" dirty="0"/>
          </a:p>
        </p:txBody>
      </p:sp>
      <p:sp>
        <p:nvSpPr>
          <p:cNvPr id="12" name="Text 10"/>
          <p:cNvSpPr/>
          <p:nvPr/>
        </p:nvSpPr>
        <p:spPr>
          <a:xfrm>
            <a:off x="6949440" y="3813048"/>
            <a:ext cx="4443984" cy="685800"/>
          </a:xfrm>
          <a:prstGeom prst="rect">
            <a:avLst/>
          </a:prstGeom>
          <a:noFill/>
          <a:ln/>
        </p:spPr>
        <p:txBody>
          <a:bodyPr wrap="square" lIns="0" tIns="0" rIns="0" bIns="0" rtlCol="0" anchor="t"/>
          <a:lstStyle/>
          <a:p>
            <a:pPr marL="0" indent="0">
              <a:buNone/>
            </a:pPr>
            <a:r>
              <a:rPr lang="en-US" altLang="en-US" sz="2000" dirty="0">
                <a:solidFill>
                  <a:srgbClr val="526779"/>
                </a:solidFill>
                <a:latin typeface="Segoe UI" pitchFamily="34" charset="0"/>
                <a:ea typeface="Segoe UI" pitchFamily="34" charset="-122"/>
                <a:cs typeface="Segoe UI" pitchFamily="34" charset="-120"/>
              </a:rPr>
              <a:t>Keep credentials, operator controls and this guide private.</a:t>
            </a:r>
            <a:endParaRPr lang="en-US" sz="2000" dirty="0"/>
          </a:p>
        </p:txBody>
      </p:sp>
      <p:sp>
        <p:nvSpPr>
          <p:cNvPr id="13" name="Shape 11"/>
          <p:cNvSpPr/>
          <p:nvPr/>
        </p:nvSpPr>
        <p:spPr>
          <a:xfrm>
            <a:off x="585216" y="4672584"/>
            <a:ext cx="10991088" cy="859536"/>
          </a:xfrm>
          <a:prstGeom prst="roundRect">
            <a:avLst>
              <a:gd name="adj" fmla="val 12766"/>
            </a:avLst>
          </a:prstGeom>
          <a:solidFill>
            <a:srgbClr val="FFFFFF"/>
          </a:solidFill>
          <a:ln w="8890">
            <a:solidFill>
              <a:srgbClr val="D4DDD9"/>
            </a:solidFill>
            <a:prstDash val="solid"/>
          </a:ln>
        </p:spPr>
      </p:sp>
      <p:sp>
        <p:nvSpPr>
          <p:cNvPr id="14" name="Text 12"/>
          <p:cNvSpPr/>
          <p:nvPr/>
        </p:nvSpPr>
        <p:spPr>
          <a:xfrm>
            <a:off x="740664" y="4855464"/>
            <a:ext cx="1371600" cy="384048"/>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AFTER</a:t>
            </a:r>
            <a:endParaRPr lang="en-US" sz="1800" dirty="0"/>
          </a:p>
        </p:txBody>
      </p:sp>
      <p:sp>
        <p:nvSpPr>
          <p:cNvPr id="15" name="Text 13"/>
          <p:cNvSpPr/>
          <p:nvPr/>
        </p:nvSpPr>
        <p:spPr>
          <a:xfrm>
            <a:off x="2231136" y="4736592"/>
            <a:ext cx="4526280" cy="731520"/>
          </a:xfrm>
          <a:prstGeom prst="rect">
            <a:avLst/>
          </a:prstGeom>
          <a:noFill/>
          <a:ln/>
        </p:spPr>
        <p:txBody>
          <a:bodyPr wrap="square" lIns="0" tIns="0" rIns="0" bIns="0" rtlCol="0" anchor="t"/>
          <a:lstStyle/>
          <a:p>
            <a:pPr marL="0" indent="0">
              <a:buNone/>
            </a:pPr>
            <a:r>
              <a:rPr lang="en-US" altLang="en-US" sz="2300" b="1" dirty="0">
                <a:solidFill>
                  <a:srgbClr val="102A43"/>
                </a:solidFill>
                <a:latin typeface="Segoe UI" pitchFamily="34" charset="0"/>
                <a:ea typeface="Segoe UI" pitchFamily="34" charset="-122"/>
                <a:cs typeface="Segoe UI" pitchFamily="34" charset="-120"/>
              </a:rPr>
              <a:t>Return to the named slide</a:t>
            </a:r>
            <a:endParaRPr lang="en-US" sz="2300" dirty="0"/>
          </a:p>
        </p:txBody>
      </p:sp>
      <p:sp>
        <p:nvSpPr>
          <p:cNvPr id="16" name="Text 14"/>
          <p:cNvSpPr/>
          <p:nvPr/>
        </p:nvSpPr>
        <p:spPr>
          <a:xfrm>
            <a:off x="6949440" y="4773168"/>
            <a:ext cx="4443984" cy="685800"/>
          </a:xfrm>
          <a:prstGeom prst="rect">
            <a:avLst/>
          </a:prstGeom>
          <a:noFill/>
          <a:ln/>
        </p:spPr>
        <p:txBody>
          <a:bodyPr wrap="square" lIns="0" tIns="0" rIns="0" bIns="0" rtlCol="0" anchor="t"/>
          <a:lstStyle/>
          <a:p>
            <a:pPr marL="0" indent="0">
              <a:buNone/>
            </a:pPr>
            <a:r>
              <a:rPr lang="en-US" altLang="en-US" sz="2000" dirty="0">
                <a:solidFill>
                  <a:srgbClr val="526779"/>
                </a:solidFill>
                <a:latin typeface="Segoe UI" pitchFamily="34" charset="0"/>
                <a:ea typeface="Segoe UI" pitchFamily="34" charset="-122"/>
                <a:cs typeface="Segoe UI" pitchFamily="34" charset="-120"/>
              </a:rPr>
              <a:t>Connect the observation to the learning point.</a:t>
            </a:r>
            <a:endParaRPr lang="en-US" sz="2000" dirty="0"/>
          </a:p>
        </p:txBody>
      </p:sp>
      <p:sp>
        <p:nvSpPr>
          <p:cNvPr id="17" name="Shape 15"/>
          <p:cNvSpPr/>
          <p:nvPr/>
        </p:nvSpPr>
        <p:spPr>
          <a:xfrm>
            <a:off x="585216" y="5824728"/>
            <a:ext cx="10991088" cy="502920"/>
          </a:xfrm>
          <a:prstGeom prst="rect">
            <a:avLst/>
          </a:prstGeom>
          <a:solidFill>
            <a:srgbClr val="E5EEEB"/>
          </a:solidFill>
          <a:ln w="8890">
            <a:solidFill>
              <a:srgbClr val="E5EEEB"/>
            </a:solidFill>
            <a:prstDash val="solid"/>
          </a:ln>
        </p:spPr>
      </p:sp>
      <p:sp>
        <p:nvSpPr>
          <p:cNvPr id="18" name="Text 16"/>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Public return points: P10, P16, P26, P35, P44 and P53.</a:t>
            </a:r>
            <a:endParaRPr lang="en-US" sz="1850" dirty="0"/>
          </a:p>
        </p:txBody>
      </p:sp>
      <p:sp>
        <p:nvSpPr>
          <p:cNvPr id="19" name="Text 17"/>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FACILITATOR ONLY / DO NOT PROJECT</a:t>
            </a:r>
            <a:endParaRPr lang="en-US" sz="1050" dirty="0"/>
          </a:p>
        </p:txBody>
      </p:sp>
      <p:sp>
        <p:nvSpPr>
          <p:cNvPr id="20" name="Text 18">
            <a:hlinkClick r:id="rId3" action="ppaction://hlinksldjump" tooltip="Go to the facilitator index"/>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facilitator index">
                  <a:extLst>
                    <a:ext uri="{A12FA001-AC4F-418D-AE19-62706E023703}">
                      <ahyp:hlinkClr xmlns:ahyp="http://schemas.microsoft.com/office/drawing/2018/hyperlinkcolor" val="tx"/>
                    </a:ext>
                  </a:extLst>
                </a:hlinkClick>
              </a:rPr>
              <a:t>INDEX</a:t>
            </a:r>
            <a:endParaRPr lang="en-US" sz="1100" dirty="0"/>
          </a:p>
        </p:txBody>
      </p:sp>
      <p:sp>
        <p:nvSpPr>
          <p:cNvPr id="21" name="Text 19"/>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I05 / 18</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FACILITATOR FIELD GUIDE</a:t>
            </a:r>
            <a:endParaRPr lang="en-US" sz="1150" dirty="0"/>
          </a:p>
        </p:txBody>
      </p:sp>
      <p:sp>
        <p:nvSpPr>
          <p:cNvPr id="3" name="I06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Registration triage</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Separate access problems from learning problems.</a:t>
            </a:r>
            <a:endParaRPr lang="en-US" sz="2400" dirty="0"/>
          </a:p>
        </p:txBody>
      </p:sp>
      <p:sp>
        <p:nvSpPr>
          <p:cNvPr id="5" name="Shape 3"/>
          <p:cNvSpPr/>
          <p:nvPr/>
        </p:nvSpPr>
        <p:spPr>
          <a:xfrm>
            <a:off x="3072384" y="3913632"/>
            <a:ext cx="301752" cy="0"/>
          </a:xfrm>
          <a:prstGeom prst="line">
            <a:avLst/>
          </a:prstGeom>
          <a:noFill/>
          <a:ln w="25400">
            <a:solidFill>
              <a:srgbClr val="0F766E"/>
            </a:solidFill>
            <a:prstDash val="solid"/>
            <a:headEnd type="none"/>
            <a:tailEnd type="triangle"/>
          </a:ln>
        </p:spPr>
      </p:sp>
      <p:sp>
        <p:nvSpPr>
          <p:cNvPr id="6" name="Shape 4"/>
          <p:cNvSpPr/>
          <p:nvPr/>
        </p:nvSpPr>
        <p:spPr>
          <a:xfrm>
            <a:off x="585216" y="2871216"/>
            <a:ext cx="2459736" cy="2715768"/>
          </a:xfrm>
          <a:prstGeom prst="roundRect">
            <a:avLst>
              <a:gd name="adj" fmla="val 4461"/>
            </a:avLst>
          </a:prstGeom>
          <a:solidFill>
            <a:srgbClr val="FFFFFF"/>
          </a:solidFill>
          <a:ln w="8890">
            <a:solidFill>
              <a:srgbClr val="D4DDD9"/>
            </a:solidFill>
            <a:prstDash val="solid"/>
          </a:ln>
        </p:spPr>
      </p:sp>
      <p:sp>
        <p:nvSpPr>
          <p:cNvPr id="7" name="Text 5"/>
          <p:cNvSpPr/>
          <p:nvPr/>
        </p:nvSpPr>
        <p:spPr>
          <a:xfrm>
            <a:off x="768096" y="3054096"/>
            <a:ext cx="2093976" cy="438912"/>
          </a:xfrm>
          <a:prstGeom prst="rect">
            <a:avLst/>
          </a:prstGeom>
          <a:noFill/>
          <a:ln/>
        </p:spPr>
        <p:txBody>
          <a:bodyPr wrap="square" lIns="0" tIns="0" rIns="0" bIns="0" rtlCol="0" anchor="t"/>
          <a:lstStyle/>
          <a:p>
            <a:pPr marL="0" indent="0">
              <a:buNone/>
            </a:pPr>
            <a:r>
              <a:rPr lang="en-US" altLang="en-US" sz="2600" b="1" dirty="0">
                <a:solidFill>
                  <a:srgbClr val="0F766E"/>
                </a:solidFill>
                <a:latin typeface="Segoe UI" pitchFamily="34" charset="0"/>
                <a:ea typeface="Segoe UI" pitchFamily="34" charset="-122"/>
                <a:cs typeface="Segoe UI" pitchFamily="34" charset="-120"/>
              </a:rPr>
              <a:t>01</a:t>
            </a:r>
            <a:endParaRPr lang="en-US" sz="2600" dirty="0"/>
          </a:p>
        </p:txBody>
      </p:sp>
      <p:sp>
        <p:nvSpPr>
          <p:cNvPr id="8" name="Text 6"/>
          <p:cNvSpPr/>
          <p:nvPr/>
        </p:nvSpPr>
        <p:spPr>
          <a:xfrm>
            <a:off x="768096" y="3767328"/>
            <a:ext cx="2093976" cy="475488"/>
          </a:xfrm>
          <a:prstGeom prst="rect">
            <a:avLst/>
          </a:prstGeom>
          <a:noFill/>
          <a:ln/>
        </p:spPr>
        <p:txBody>
          <a:bodyPr wrap="square" lIns="0" tIns="0" rIns="0" bIns="0" rtlCol="0" anchor="t"/>
          <a:lstStyle/>
          <a:p>
            <a:pPr marL="0" indent="0">
              <a:buNone/>
            </a:pPr>
            <a:r>
              <a:rPr lang="en-US" altLang="en-US" sz="2000" b="1" dirty="0">
                <a:solidFill>
                  <a:srgbClr val="102A43"/>
                </a:solidFill>
                <a:latin typeface="Segoe UI" pitchFamily="34" charset="0"/>
                <a:ea typeface="Segoe UI" pitchFamily="34" charset="-122"/>
                <a:cs typeface="Segoe UI" pitchFamily="34" charset="-120"/>
              </a:rPr>
              <a:t>CONFIG</a:t>
            </a:r>
            <a:endParaRPr lang="en-US" sz="2000" dirty="0"/>
          </a:p>
        </p:txBody>
      </p:sp>
      <p:sp>
        <p:nvSpPr>
          <p:cNvPr id="9" name="Text 7"/>
          <p:cNvSpPr/>
          <p:nvPr/>
        </p:nvSpPr>
        <p:spPr>
          <a:xfrm>
            <a:off x="768096" y="4315968"/>
            <a:ext cx="2093976" cy="1115568"/>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Endpoint and locale</a:t>
            </a:r>
            <a:endParaRPr lang="en-US" sz="2300" dirty="0"/>
          </a:p>
        </p:txBody>
      </p:sp>
      <p:sp>
        <p:nvSpPr>
          <p:cNvPr id="10" name="Shape 8"/>
          <p:cNvSpPr/>
          <p:nvPr/>
        </p:nvSpPr>
        <p:spPr>
          <a:xfrm>
            <a:off x="5916168" y="3913632"/>
            <a:ext cx="301752" cy="0"/>
          </a:xfrm>
          <a:prstGeom prst="line">
            <a:avLst/>
          </a:prstGeom>
          <a:noFill/>
          <a:ln w="25400">
            <a:solidFill>
              <a:srgbClr val="0F766E"/>
            </a:solidFill>
            <a:prstDash val="solid"/>
            <a:headEnd type="none"/>
            <a:tailEnd type="triangle"/>
          </a:ln>
        </p:spPr>
      </p:sp>
      <p:sp>
        <p:nvSpPr>
          <p:cNvPr id="11" name="Shape 9"/>
          <p:cNvSpPr/>
          <p:nvPr/>
        </p:nvSpPr>
        <p:spPr>
          <a:xfrm>
            <a:off x="3429000" y="2871216"/>
            <a:ext cx="2459736" cy="2715768"/>
          </a:xfrm>
          <a:prstGeom prst="roundRect">
            <a:avLst>
              <a:gd name="adj" fmla="val 4461"/>
            </a:avLst>
          </a:prstGeom>
          <a:solidFill>
            <a:srgbClr val="FFFFFF"/>
          </a:solidFill>
          <a:ln w="8890">
            <a:solidFill>
              <a:srgbClr val="D4DDD9"/>
            </a:solidFill>
            <a:prstDash val="solid"/>
          </a:ln>
        </p:spPr>
      </p:sp>
      <p:sp>
        <p:nvSpPr>
          <p:cNvPr id="12" name="Text 10"/>
          <p:cNvSpPr/>
          <p:nvPr/>
        </p:nvSpPr>
        <p:spPr>
          <a:xfrm>
            <a:off x="3611880" y="3054096"/>
            <a:ext cx="2093976" cy="438912"/>
          </a:xfrm>
          <a:prstGeom prst="rect">
            <a:avLst/>
          </a:prstGeom>
          <a:noFill/>
          <a:ln/>
        </p:spPr>
        <p:txBody>
          <a:bodyPr wrap="square" lIns="0" tIns="0" rIns="0" bIns="0" rtlCol="0" anchor="t"/>
          <a:lstStyle/>
          <a:p>
            <a:pPr marL="0" indent="0">
              <a:buNone/>
            </a:pPr>
            <a:r>
              <a:rPr lang="en-US" altLang="en-US" sz="2600" b="1" dirty="0">
                <a:solidFill>
                  <a:srgbClr val="0F766E"/>
                </a:solidFill>
                <a:latin typeface="Segoe UI" pitchFamily="34" charset="0"/>
                <a:ea typeface="Segoe UI" pitchFamily="34" charset="-122"/>
                <a:cs typeface="Segoe UI" pitchFamily="34" charset="-120"/>
              </a:rPr>
              <a:t>02</a:t>
            </a:r>
            <a:endParaRPr lang="en-US" sz="2600" dirty="0"/>
          </a:p>
        </p:txBody>
      </p:sp>
      <p:sp>
        <p:nvSpPr>
          <p:cNvPr id="13" name="Text 11"/>
          <p:cNvSpPr/>
          <p:nvPr/>
        </p:nvSpPr>
        <p:spPr>
          <a:xfrm>
            <a:off x="3611880" y="3767328"/>
            <a:ext cx="2093976" cy="475488"/>
          </a:xfrm>
          <a:prstGeom prst="rect">
            <a:avLst/>
          </a:prstGeom>
          <a:noFill/>
          <a:ln/>
        </p:spPr>
        <p:txBody>
          <a:bodyPr wrap="square" lIns="0" tIns="0" rIns="0" bIns="0" rtlCol="0" anchor="t"/>
          <a:lstStyle/>
          <a:p>
            <a:pPr marL="0" indent="0">
              <a:buNone/>
            </a:pPr>
            <a:r>
              <a:rPr lang="en-US" altLang="en-US" sz="2000" b="1" dirty="0">
                <a:solidFill>
                  <a:srgbClr val="102A43"/>
                </a:solidFill>
                <a:latin typeface="Segoe UI" pitchFamily="34" charset="0"/>
                <a:ea typeface="Segoe UI" pitchFamily="34" charset="-122"/>
                <a:cs typeface="Segoe UI" pitchFamily="34" charset="-120"/>
              </a:rPr>
              <a:t>JOIN</a:t>
            </a:r>
            <a:endParaRPr lang="en-US" sz="2000" dirty="0"/>
          </a:p>
        </p:txBody>
      </p:sp>
      <p:sp>
        <p:nvSpPr>
          <p:cNvPr id="14" name="Text 12"/>
          <p:cNvSpPr/>
          <p:nvPr/>
        </p:nvSpPr>
        <p:spPr>
          <a:xfrm>
            <a:off x="3611880" y="4315968"/>
            <a:ext cx="2093976" cy="1115568"/>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Event and unit</a:t>
            </a:r>
            <a:endParaRPr lang="en-US" sz="2300" dirty="0"/>
          </a:p>
        </p:txBody>
      </p:sp>
      <p:sp>
        <p:nvSpPr>
          <p:cNvPr id="15" name="Shape 13"/>
          <p:cNvSpPr/>
          <p:nvPr/>
        </p:nvSpPr>
        <p:spPr>
          <a:xfrm>
            <a:off x="8759952" y="3913632"/>
            <a:ext cx="301752" cy="0"/>
          </a:xfrm>
          <a:prstGeom prst="line">
            <a:avLst/>
          </a:prstGeom>
          <a:noFill/>
          <a:ln w="25400">
            <a:solidFill>
              <a:srgbClr val="0F766E"/>
            </a:solidFill>
            <a:prstDash val="solid"/>
            <a:headEnd type="none"/>
            <a:tailEnd type="triangle"/>
          </a:ln>
        </p:spPr>
      </p:sp>
      <p:sp>
        <p:nvSpPr>
          <p:cNvPr id="16" name="Shape 14"/>
          <p:cNvSpPr/>
          <p:nvPr/>
        </p:nvSpPr>
        <p:spPr>
          <a:xfrm>
            <a:off x="6272784" y="2871216"/>
            <a:ext cx="2459736" cy="2715768"/>
          </a:xfrm>
          <a:prstGeom prst="roundRect">
            <a:avLst>
              <a:gd name="adj" fmla="val 4461"/>
            </a:avLst>
          </a:prstGeom>
          <a:solidFill>
            <a:srgbClr val="FFFFFF"/>
          </a:solidFill>
          <a:ln w="8890">
            <a:solidFill>
              <a:srgbClr val="D4DDD9"/>
            </a:solidFill>
            <a:prstDash val="solid"/>
          </a:ln>
        </p:spPr>
      </p:sp>
      <p:sp>
        <p:nvSpPr>
          <p:cNvPr id="17" name="Text 15"/>
          <p:cNvSpPr/>
          <p:nvPr/>
        </p:nvSpPr>
        <p:spPr>
          <a:xfrm>
            <a:off x="6455664" y="3054096"/>
            <a:ext cx="2093976" cy="438912"/>
          </a:xfrm>
          <a:prstGeom prst="rect">
            <a:avLst/>
          </a:prstGeom>
          <a:noFill/>
          <a:ln/>
        </p:spPr>
        <p:txBody>
          <a:bodyPr wrap="square" lIns="0" tIns="0" rIns="0" bIns="0" rtlCol="0" anchor="t"/>
          <a:lstStyle/>
          <a:p>
            <a:pPr marL="0" indent="0">
              <a:buNone/>
            </a:pPr>
            <a:r>
              <a:rPr lang="en-US" altLang="en-US" sz="2600" b="1" dirty="0">
                <a:solidFill>
                  <a:srgbClr val="0F766E"/>
                </a:solidFill>
                <a:latin typeface="Segoe UI" pitchFamily="34" charset="0"/>
                <a:ea typeface="Segoe UI" pitchFamily="34" charset="-122"/>
                <a:cs typeface="Segoe UI" pitchFamily="34" charset="-120"/>
              </a:rPr>
              <a:t>03</a:t>
            </a:r>
            <a:endParaRPr lang="en-US" sz="2600" dirty="0"/>
          </a:p>
        </p:txBody>
      </p:sp>
      <p:sp>
        <p:nvSpPr>
          <p:cNvPr id="18" name="Text 16"/>
          <p:cNvSpPr/>
          <p:nvPr/>
        </p:nvSpPr>
        <p:spPr>
          <a:xfrm>
            <a:off x="6455664" y="3767328"/>
            <a:ext cx="2093976" cy="475488"/>
          </a:xfrm>
          <a:prstGeom prst="rect">
            <a:avLst/>
          </a:prstGeom>
          <a:noFill/>
          <a:ln/>
        </p:spPr>
        <p:txBody>
          <a:bodyPr wrap="square" lIns="0" tIns="0" rIns="0" bIns="0" rtlCol="0" anchor="t"/>
          <a:lstStyle/>
          <a:p>
            <a:pPr marL="0" indent="0">
              <a:buNone/>
            </a:pPr>
            <a:r>
              <a:rPr lang="en-US" altLang="en-US" sz="2000" b="1" dirty="0">
                <a:solidFill>
                  <a:srgbClr val="102A43"/>
                </a:solidFill>
                <a:latin typeface="Segoe UI" pitchFamily="34" charset="0"/>
                <a:ea typeface="Segoe UI" pitchFamily="34" charset="-122"/>
                <a:cs typeface="Segoe UI" pitchFamily="34" charset="-120"/>
              </a:rPr>
              <a:t>AUTH</a:t>
            </a:r>
            <a:endParaRPr lang="en-US" sz="2000" dirty="0"/>
          </a:p>
        </p:txBody>
      </p:sp>
      <p:sp>
        <p:nvSpPr>
          <p:cNvPr id="19" name="Text 17"/>
          <p:cNvSpPr/>
          <p:nvPr/>
        </p:nvSpPr>
        <p:spPr>
          <a:xfrm>
            <a:off x="6455664" y="4315968"/>
            <a:ext cx="2093976" cy="1115568"/>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Private credential state</a:t>
            </a:r>
            <a:endParaRPr lang="en-US" sz="2300" dirty="0"/>
          </a:p>
        </p:txBody>
      </p:sp>
      <p:sp>
        <p:nvSpPr>
          <p:cNvPr id="20" name="Shape 18"/>
          <p:cNvSpPr/>
          <p:nvPr/>
        </p:nvSpPr>
        <p:spPr>
          <a:xfrm>
            <a:off x="9116568" y="2871216"/>
            <a:ext cx="2459736" cy="2715768"/>
          </a:xfrm>
          <a:prstGeom prst="roundRect">
            <a:avLst>
              <a:gd name="adj" fmla="val 4461"/>
            </a:avLst>
          </a:prstGeom>
          <a:solidFill>
            <a:srgbClr val="102A43"/>
          </a:solidFill>
          <a:ln w="8890">
            <a:solidFill>
              <a:srgbClr val="D4DDD9"/>
            </a:solidFill>
            <a:prstDash val="solid"/>
          </a:ln>
        </p:spPr>
      </p:sp>
      <p:sp>
        <p:nvSpPr>
          <p:cNvPr id="21" name="Text 19"/>
          <p:cNvSpPr/>
          <p:nvPr/>
        </p:nvSpPr>
        <p:spPr>
          <a:xfrm>
            <a:off x="9299448" y="3054096"/>
            <a:ext cx="2093976" cy="438912"/>
          </a:xfrm>
          <a:prstGeom prst="rect">
            <a:avLst/>
          </a:prstGeom>
          <a:noFill/>
          <a:ln/>
        </p:spPr>
        <p:txBody>
          <a:bodyPr wrap="square" lIns="0" tIns="0" rIns="0" bIns="0" rtlCol="0" anchor="t"/>
          <a:lstStyle/>
          <a:p>
            <a:pPr marL="0" indent="0">
              <a:buNone/>
            </a:pPr>
            <a:r>
              <a:rPr lang="en-US" altLang="en-US" sz="2600" b="1" dirty="0">
                <a:solidFill>
                  <a:srgbClr val="5EEAD4"/>
                </a:solidFill>
                <a:latin typeface="Segoe UI" pitchFamily="34" charset="0"/>
                <a:ea typeface="Segoe UI" pitchFamily="34" charset="-122"/>
                <a:cs typeface="Segoe UI" pitchFamily="34" charset="-120"/>
              </a:rPr>
              <a:t>04</a:t>
            </a:r>
            <a:endParaRPr lang="en-US" sz="2600" dirty="0"/>
          </a:p>
        </p:txBody>
      </p:sp>
      <p:sp>
        <p:nvSpPr>
          <p:cNvPr id="22" name="Text 20"/>
          <p:cNvSpPr/>
          <p:nvPr/>
        </p:nvSpPr>
        <p:spPr>
          <a:xfrm>
            <a:off x="9299448" y="3767328"/>
            <a:ext cx="2093976" cy="475488"/>
          </a:xfrm>
          <a:prstGeom prst="rect">
            <a:avLst/>
          </a:prstGeom>
          <a:noFill/>
          <a:ln/>
        </p:spPr>
        <p:txBody>
          <a:bodyPr wrap="square" lIns="0" tIns="0" rIns="0" bIns="0" rtlCol="0" anchor="t"/>
          <a:lstStyle/>
          <a:p>
            <a:pPr marL="0" indent="0">
              <a:buNone/>
            </a:pPr>
            <a:r>
              <a:rPr lang="en-US" altLang="en-US" sz="2000" b="1" dirty="0">
                <a:solidFill>
                  <a:srgbClr val="FFFFFF"/>
                </a:solidFill>
                <a:latin typeface="Segoe UI" pitchFamily="34" charset="0"/>
                <a:ea typeface="Segoe UI" pitchFamily="34" charset="-122"/>
                <a:cs typeface="Segoe UI" pitchFamily="34" charset="-120"/>
              </a:rPr>
              <a:t>CONNECT</a:t>
            </a:r>
            <a:endParaRPr lang="en-US" sz="2000" dirty="0"/>
          </a:p>
        </p:txBody>
      </p:sp>
      <p:sp>
        <p:nvSpPr>
          <p:cNvPr id="23" name="Text 21"/>
          <p:cNvSpPr/>
          <p:nvPr/>
        </p:nvSpPr>
        <p:spPr>
          <a:xfrm>
            <a:off x="9299448" y="4315968"/>
            <a:ext cx="2093976" cy="1115568"/>
          </a:xfrm>
          <a:prstGeom prst="rect">
            <a:avLst/>
          </a:prstGeom>
          <a:noFill/>
          <a:ln/>
        </p:spPr>
        <p:txBody>
          <a:bodyPr wrap="square" lIns="0" tIns="0" rIns="0" bIns="0" rtlCol="0" anchor="t"/>
          <a:lstStyle/>
          <a:p>
            <a:pPr marL="0" indent="0">
              <a:buNone/>
            </a:pPr>
            <a:r>
              <a:rPr lang="en-US" altLang="en-US" sz="2300" dirty="0">
                <a:solidFill>
                  <a:srgbClr val="C9D8E2"/>
                </a:solidFill>
                <a:latin typeface="Segoe UI" pitchFamily="34" charset="0"/>
                <a:ea typeface="Segoe UI" pitchFamily="34" charset="-122"/>
                <a:cs typeface="Segoe UI" pitchFamily="34" charset="-120"/>
              </a:rPr>
              <a:t>Required endpoints</a:t>
            </a:r>
            <a:endParaRPr lang="en-US" sz="2300" dirty="0"/>
          </a:p>
        </p:txBody>
      </p:sp>
      <p:sp>
        <p:nvSpPr>
          <p:cNvPr id="24" name="Shape 22"/>
          <p:cNvSpPr/>
          <p:nvPr/>
        </p:nvSpPr>
        <p:spPr>
          <a:xfrm>
            <a:off x="585216" y="5824728"/>
            <a:ext cx="10991088" cy="502920"/>
          </a:xfrm>
          <a:prstGeom prst="rect">
            <a:avLst/>
          </a:prstGeom>
          <a:solidFill>
            <a:srgbClr val="E5EEEB"/>
          </a:solidFill>
          <a:ln w="8890">
            <a:solidFill>
              <a:srgbClr val="E5EEEB"/>
            </a:solidFill>
            <a:prstDash val="solid"/>
          </a:ln>
        </p:spPr>
      </p:sp>
      <p:sp>
        <p:nvSpPr>
          <p:cNvPr id="25" name="Text 23"/>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A missing unit is a support issue, not a fabricated connection success.</a:t>
            </a:r>
            <a:endParaRPr lang="en-US" sz="1850" dirty="0"/>
          </a:p>
        </p:txBody>
      </p:sp>
      <p:sp>
        <p:nvSpPr>
          <p:cNvPr id="26" name="Text 24"/>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FACILITATOR ONLY / DO NOT PROJECT</a:t>
            </a:r>
            <a:endParaRPr lang="en-US" sz="1050" dirty="0"/>
          </a:p>
        </p:txBody>
      </p:sp>
      <p:sp>
        <p:nvSpPr>
          <p:cNvPr id="27" name="Text 25">
            <a:hlinkClick r:id="rId3" action="ppaction://hlinksldjump" tooltip="Go to the facilitator index"/>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facilitator index">
                  <a:extLst>
                    <a:ext uri="{A12FA001-AC4F-418D-AE19-62706E023703}">
                      <ahyp:hlinkClr xmlns:ahyp="http://schemas.microsoft.com/office/drawing/2018/hyperlinkcolor" val="tx"/>
                    </a:ext>
                  </a:extLst>
                </a:hlinkClick>
              </a:rPr>
              <a:t>INDEX</a:t>
            </a:r>
            <a:endParaRPr lang="en-US" sz="1100" dirty="0"/>
          </a:p>
        </p:txBody>
      </p:sp>
      <p:sp>
        <p:nvSpPr>
          <p:cNvPr id="28" name="Text 26"/>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I06 / 18</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FACILITATOR FIELD GUIDE</a:t>
            </a:r>
            <a:endParaRPr lang="en-US" sz="1150" dirty="0"/>
          </a:p>
        </p:txBody>
      </p:sp>
      <p:sp>
        <p:nvSpPr>
          <p:cNvPr id="3" name="I07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Coach Mission 1</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Coach the contract, not the final answer.</a:t>
            </a:r>
            <a:endParaRPr lang="en-US" sz="2400" dirty="0"/>
          </a:p>
        </p:txBody>
      </p:sp>
      <p:sp>
        <p:nvSpPr>
          <p:cNvPr id="5" name="Shape 3"/>
          <p:cNvSpPr/>
          <p:nvPr/>
        </p:nvSpPr>
        <p:spPr>
          <a:xfrm>
            <a:off x="585216" y="2752344"/>
            <a:ext cx="10991088" cy="822960"/>
          </a:xfrm>
          <a:prstGeom prst="roundRect">
            <a:avLst>
              <a:gd name="adj" fmla="val 13333"/>
            </a:avLst>
          </a:prstGeom>
          <a:solidFill>
            <a:srgbClr val="102A43"/>
          </a:solidFill>
          <a:ln w="8890">
            <a:solidFill>
              <a:srgbClr val="D4DDD9"/>
            </a:solidFill>
            <a:prstDash val="solid"/>
          </a:ln>
        </p:spPr>
      </p:sp>
      <p:sp>
        <p:nvSpPr>
          <p:cNvPr id="6" name="Text 4"/>
          <p:cNvSpPr/>
          <p:nvPr/>
        </p:nvSpPr>
        <p:spPr>
          <a:xfrm>
            <a:off x="749808" y="2944368"/>
            <a:ext cx="2304288" cy="356616"/>
          </a:xfrm>
          <a:prstGeom prst="rect">
            <a:avLst/>
          </a:prstGeom>
          <a:noFill/>
          <a:ln/>
        </p:spPr>
        <p:txBody>
          <a:bodyPr wrap="square" lIns="0" tIns="0" rIns="0" bIns="0" rtlCol="0" anchor="t"/>
          <a:lstStyle/>
          <a:p>
            <a:pPr marL="0" indent="0">
              <a:buNone/>
            </a:pPr>
            <a:r>
              <a:rPr lang="en-US" altLang="en-US" sz="1800" b="1" dirty="0">
                <a:solidFill>
                  <a:srgbClr val="5EEAD4"/>
                </a:solidFill>
                <a:latin typeface="Segoe UI" pitchFamily="34" charset="0"/>
                <a:ea typeface="Segoe UI" pitchFamily="34" charset="-122"/>
                <a:cs typeface="Segoe UI" pitchFamily="34" charset="-120"/>
              </a:rPr>
              <a:t>CORE</a:t>
            </a:r>
            <a:endParaRPr lang="en-US" sz="1800" dirty="0"/>
          </a:p>
        </p:txBody>
      </p:sp>
      <p:sp>
        <p:nvSpPr>
          <p:cNvPr id="7" name="Text 5"/>
          <p:cNvSpPr/>
          <p:nvPr/>
        </p:nvSpPr>
        <p:spPr>
          <a:xfrm>
            <a:off x="3273552" y="2825496"/>
            <a:ext cx="8019288" cy="694944"/>
          </a:xfrm>
          <a:prstGeom prst="rect">
            <a:avLst/>
          </a:prstGeom>
          <a:noFill/>
          <a:ln/>
        </p:spPr>
        <p:txBody>
          <a:bodyPr wrap="square" lIns="0" tIns="0" rIns="0" bIns="0" rtlCol="0" anchor="t"/>
          <a:lstStyle/>
          <a:p>
            <a:pPr marL="0" indent="0">
              <a:buNone/>
            </a:pPr>
            <a:r>
              <a:rPr lang="en-US" altLang="en-US" sz="2200" dirty="0">
                <a:solidFill>
                  <a:srgbClr val="FFFFFF"/>
                </a:solidFill>
                <a:latin typeface="Segoe UI" pitchFamily="34" charset="0"/>
                <a:ea typeface="Segoe UI" pitchFamily="34" charset="-122"/>
                <a:cs typeface="Segoe UI" pitchFamily="34" charset="-120"/>
              </a:rPr>
              <a:t>Category, severity, location, services and missing information.</a:t>
            </a:r>
            <a:endParaRPr lang="en-US" sz="2200" dirty="0"/>
          </a:p>
        </p:txBody>
      </p:sp>
      <p:sp>
        <p:nvSpPr>
          <p:cNvPr id="8" name="Shape 6"/>
          <p:cNvSpPr/>
          <p:nvPr/>
        </p:nvSpPr>
        <p:spPr>
          <a:xfrm>
            <a:off x="585216" y="3657600"/>
            <a:ext cx="10991088" cy="822960"/>
          </a:xfrm>
          <a:prstGeom prst="roundRect">
            <a:avLst>
              <a:gd name="adj" fmla="val 13333"/>
            </a:avLst>
          </a:prstGeom>
          <a:solidFill>
            <a:srgbClr val="FFFFFF"/>
          </a:solidFill>
          <a:ln w="8890">
            <a:solidFill>
              <a:srgbClr val="D4DDD9"/>
            </a:solidFill>
            <a:prstDash val="solid"/>
          </a:ln>
        </p:spPr>
      </p:sp>
      <p:sp>
        <p:nvSpPr>
          <p:cNvPr id="9" name="Text 7"/>
          <p:cNvSpPr/>
          <p:nvPr/>
        </p:nvSpPr>
        <p:spPr>
          <a:xfrm>
            <a:off x="749808" y="3849624"/>
            <a:ext cx="2304288" cy="356616"/>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LIKELY GAP</a:t>
            </a:r>
            <a:endParaRPr lang="en-US" sz="1800" dirty="0"/>
          </a:p>
        </p:txBody>
      </p:sp>
      <p:sp>
        <p:nvSpPr>
          <p:cNvPr id="10" name="Text 8"/>
          <p:cNvSpPr/>
          <p:nvPr/>
        </p:nvSpPr>
        <p:spPr>
          <a:xfrm>
            <a:off x="3273552" y="3730752"/>
            <a:ext cx="8019288" cy="694944"/>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Invented detail or a field omitted from the actual contract.</a:t>
            </a:r>
            <a:endParaRPr lang="en-US" sz="2200" dirty="0"/>
          </a:p>
        </p:txBody>
      </p:sp>
      <p:sp>
        <p:nvSpPr>
          <p:cNvPr id="11" name="Shape 9"/>
          <p:cNvSpPr/>
          <p:nvPr/>
        </p:nvSpPr>
        <p:spPr>
          <a:xfrm>
            <a:off x="585216" y="4562856"/>
            <a:ext cx="10991088" cy="822960"/>
          </a:xfrm>
          <a:prstGeom prst="roundRect">
            <a:avLst>
              <a:gd name="adj" fmla="val 13333"/>
            </a:avLst>
          </a:prstGeom>
          <a:solidFill>
            <a:srgbClr val="FFFFFF"/>
          </a:solidFill>
          <a:ln w="8890">
            <a:solidFill>
              <a:srgbClr val="D4DDD9"/>
            </a:solidFill>
            <a:prstDash val="solid"/>
          </a:ln>
        </p:spPr>
      </p:sp>
      <p:sp>
        <p:nvSpPr>
          <p:cNvPr id="12" name="Text 10"/>
          <p:cNvSpPr/>
          <p:nvPr/>
        </p:nvSpPr>
        <p:spPr>
          <a:xfrm>
            <a:off x="749808" y="4754880"/>
            <a:ext cx="2304288" cy="356616"/>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HINT LADDER</a:t>
            </a:r>
            <a:endParaRPr lang="en-US" sz="1800" dirty="0"/>
          </a:p>
        </p:txBody>
      </p:sp>
      <p:sp>
        <p:nvSpPr>
          <p:cNvPr id="13" name="Text 11"/>
          <p:cNvSpPr/>
          <p:nvPr/>
        </p:nvSpPr>
        <p:spPr>
          <a:xfrm>
            <a:off x="3273552" y="4636008"/>
            <a:ext cx="8019288" cy="694944"/>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List fields -&gt; map report evidence -&gt; inspect one failing case.</a:t>
            </a:r>
            <a:endParaRPr lang="en-US" sz="2200" dirty="0"/>
          </a:p>
        </p:txBody>
      </p:sp>
      <p:sp>
        <p:nvSpPr>
          <p:cNvPr id="14" name="Shape 12"/>
          <p:cNvSpPr/>
          <p:nvPr/>
        </p:nvSpPr>
        <p:spPr>
          <a:xfrm>
            <a:off x="585216" y="5824728"/>
            <a:ext cx="10991088" cy="502920"/>
          </a:xfrm>
          <a:prstGeom prst="rect">
            <a:avLst/>
          </a:prstGeom>
          <a:solidFill>
            <a:srgbClr val="E5EEEB"/>
          </a:solidFill>
          <a:ln w="8890">
            <a:solidFill>
              <a:srgbClr val="E5EEEB"/>
            </a:solidFill>
            <a:prstDash val="solid"/>
          </a:ln>
        </p:spPr>
      </p:sp>
      <p:sp>
        <p:nvSpPr>
          <p:cNvPr id="15" name="Text 13"/>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Return to P13-P16. Resolve the starter/runtime mismatch first.</a:t>
            </a:r>
            <a:endParaRPr lang="en-US" sz="1850" dirty="0"/>
          </a:p>
        </p:txBody>
      </p:sp>
      <p:sp>
        <p:nvSpPr>
          <p:cNvPr id="16" name="Text 14"/>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FACILITATOR ONLY / DO NOT PROJECT</a:t>
            </a:r>
            <a:endParaRPr lang="en-US" sz="1050" dirty="0"/>
          </a:p>
        </p:txBody>
      </p:sp>
      <p:sp>
        <p:nvSpPr>
          <p:cNvPr id="17" name="Text 15">
            <a:hlinkClick r:id="rId3" action="ppaction://hlinksldjump" tooltip="Go to the facilitator index"/>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facilitator index">
                  <a:extLst>
                    <a:ext uri="{A12FA001-AC4F-418D-AE19-62706E023703}">
                      <ahyp:hlinkClr xmlns:ahyp="http://schemas.microsoft.com/office/drawing/2018/hyperlinkcolor" val="tx"/>
                    </a:ext>
                  </a:extLst>
                </a:hlinkClick>
              </a:rPr>
              <a:t>INDEX</a:t>
            </a:r>
            <a:endParaRPr lang="en-US" sz="1100" dirty="0"/>
          </a:p>
        </p:txBody>
      </p:sp>
      <p:sp>
        <p:nvSpPr>
          <p:cNvPr id="18" name="Text 16"/>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I07 / 18</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FACILITATOR FIELD GUIDE</a:t>
            </a:r>
            <a:endParaRPr lang="en-US" sz="1150" dirty="0"/>
          </a:p>
        </p:txBody>
      </p:sp>
      <p:sp>
        <p:nvSpPr>
          <p:cNvPr id="3" name="I08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Coach Mission 2</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Reward a precise support boundary.</a:t>
            </a:r>
            <a:endParaRPr lang="en-US" sz="2400" dirty="0"/>
          </a:p>
        </p:txBody>
      </p:sp>
      <p:sp>
        <p:nvSpPr>
          <p:cNvPr id="5" name="Shape 3"/>
          <p:cNvSpPr/>
          <p:nvPr/>
        </p:nvSpPr>
        <p:spPr>
          <a:xfrm>
            <a:off x="585216" y="2752344"/>
            <a:ext cx="10991088" cy="822960"/>
          </a:xfrm>
          <a:prstGeom prst="roundRect">
            <a:avLst>
              <a:gd name="adj" fmla="val 13333"/>
            </a:avLst>
          </a:prstGeom>
          <a:solidFill>
            <a:srgbClr val="102A43"/>
          </a:solidFill>
          <a:ln w="8890">
            <a:solidFill>
              <a:srgbClr val="D4DDD9"/>
            </a:solidFill>
            <a:prstDash val="solid"/>
          </a:ln>
        </p:spPr>
      </p:sp>
      <p:sp>
        <p:nvSpPr>
          <p:cNvPr id="6" name="Text 4"/>
          <p:cNvSpPr/>
          <p:nvPr/>
        </p:nvSpPr>
        <p:spPr>
          <a:xfrm>
            <a:off x="749808" y="2944368"/>
            <a:ext cx="2304288" cy="356616"/>
          </a:xfrm>
          <a:prstGeom prst="rect">
            <a:avLst/>
          </a:prstGeom>
          <a:noFill/>
          <a:ln/>
        </p:spPr>
        <p:txBody>
          <a:bodyPr wrap="square" lIns="0" tIns="0" rIns="0" bIns="0" rtlCol="0" anchor="t"/>
          <a:lstStyle/>
          <a:p>
            <a:pPr marL="0" indent="0">
              <a:buNone/>
            </a:pPr>
            <a:r>
              <a:rPr lang="en-US" altLang="en-US" sz="1800" b="1" dirty="0">
                <a:solidFill>
                  <a:srgbClr val="5EEAD4"/>
                </a:solidFill>
                <a:latin typeface="Segoe UI" pitchFamily="34" charset="0"/>
                <a:ea typeface="Segoe UI" pitchFamily="34" charset="-122"/>
                <a:cs typeface="Segoe UI" pitchFamily="34" charset="-120"/>
              </a:rPr>
              <a:t>CORE</a:t>
            </a:r>
            <a:endParaRPr lang="en-US" sz="1800" dirty="0"/>
          </a:p>
        </p:txBody>
      </p:sp>
      <p:sp>
        <p:nvSpPr>
          <p:cNvPr id="7" name="Text 5"/>
          <p:cNvSpPr/>
          <p:nvPr/>
        </p:nvSpPr>
        <p:spPr>
          <a:xfrm>
            <a:off x="3273552" y="2825496"/>
            <a:ext cx="8019288" cy="694944"/>
          </a:xfrm>
          <a:prstGeom prst="rect">
            <a:avLst/>
          </a:prstGeom>
          <a:noFill/>
          <a:ln/>
        </p:spPr>
        <p:txBody>
          <a:bodyPr wrap="square" lIns="0" tIns="0" rIns="0" bIns="0" rtlCol="0" anchor="t"/>
          <a:lstStyle/>
          <a:p>
            <a:pPr marL="0" indent="0">
              <a:buNone/>
            </a:pPr>
            <a:r>
              <a:rPr lang="en-US" altLang="en-US" sz="2200" dirty="0">
                <a:solidFill>
                  <a:srgbClr val="FFFFFF"/>
                </a:solidFill>
                <a:latin typeface="Segoe UI" pitchFamily="34" charset="0"/>
                <a:ea typeface="Segoe UI" pitchFamily="34" charset="-122"/>
                <a:cs typeface="Segoe UI" pitchFamily="34" charset="-120"/>
              </a:rPr>
              <a:t>Facts, assumptions, unknowns, citations and a useful next step.</a:t>
            </a:r>
            <a:endParaRPr lang="en-US" sz="2200" dirty="0"/>
          </a:p>
        </p:txBody>
      </p:sp>
      <p:sp>
        <p:nvSpPr>
          <p:cNvPr id="8" name="Shape 6"/>
          <p:cNvSpPr/>
          <p:nvPr/>
        </p:nvSpPr>
        <p:spPr>
          <a:xfrm>
            <a:off x="585216" y="3657600"/>
            <a:ext cx="10991088" cy="822960"/>
          </a:xfrm>
          <a:prstGeom prst="roundRect">
            <a:avLst>
              <a:gd name="adj" fmla="val 13333"/>
            </a:avLst>
          </a:prstGeom>
          <a:solidFill>
            <a:srgbClr val="FFFFFF"/>
          </a:solidFill>
          <a:ln w="8890">
            <a:solidFill>
              <a:srgbClr val="D4DDD9"/>
            </a:solidFill>
            <a:prstDash val="solid"/>
          </a:ln>
        </p:spPr>
      </p:sp>
      <p:sp>
        <p:nvSpPr>
          <p:cNvPr id="9" name="Text 7"/>
          <p:cNvSpPr/>
          <p:nvPr/>
        </p:nvSpPr>
        <p:spPr>
          <a:xfrm>
            <a:off x="749808" y="3849624"/>
            <a:ext cx="2304288" cy="356616"/>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LIKELY GAP</a:t>
            </a:r>
            <a:endParaRPr lang="en-US" sz="1800" dirty="0"/>
          </a:p>
        </p:txBody>
      </p:sp>
      <p:sp>
        <p:nvSpPr>
          <p:cNvPr id="10" name="Text 8"/>
          <p:cNvSpPr/>
          <p:nvPr/>
        </p:nvSpPr>
        <p:spPr>
          <a:xfrm>
            <a:off x="3273552" y="3730752"/>
            <a:ext cx="8019288" cy="694944"/>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A citation exists, but it does not support the claim.</a:t>
            </a:r>
            <a:endParaRPr lang="en-US" sz="2200" dirty="0"/>
          </a:p>
        </p:txBody>
      </p:sp>
      <p:sp>
        <p:nvSpPr>
          <p:cNvPr id="11" name="Shape 9"/>
          <p:cNvSpPr/>
          <p:nvPr/>
        </p:nvSpPr>
        <p:spPr>
          <a:xfrm>
            <a:off x="585216" y="4562856"/>
            <a:ext cx="10991088" cy="822960"/>
          </a:xfrm>
          <a:prstGeom prst="roundRect">
            <a:avLst>
              <a:gd name="adj" fmla="val 13333"/>
            </a:avLst>
          </a:prstGeom>
          <a:solidFill>
            <a:srgbClr val="FFFFFF"/>
          </a:solidFill>
          <a:ln w="8890">
            <a:solidFill>
              <a:srgbClr val="D4DDD9"/>
            </a:solidFill>
            <a:prstDash val="solid"/>
          </a:ln>
        </p:spPr>
      </p:sp>
      <p:sp>
        <p:nvSpPr>
          <p:cNvPr id="12" name="Text 10"/>
          <p:cNvSpPr/>
          <p:nvPr/>
        </p:nvSpPr>
        <p:spPr>
          <a:xfrm>
            <a:off x="749808" y="4754880"/>
            <a:ext cx="2304288" cy="356616"/>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HINT LADDER</a:t>
            </a:r>
            <a:endParaRPr lang="en-US" sz="1800" dirty="0"/>
          </a:p>
        </p:txBody>
      </p:sp>
      <p:sp>
        <p:nvSpPr>
          <p:cNvPr id="13" name="Text 11"/>
          <p:cNvSpPr/>
          <p:nvPr/>
        </p:nvSpPr>
        <p:spPr>
          <a:xfrm>
            <a:off x="3273552" y="4636008"/>
            <a:ext cx="8019288" cy="694944"/>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Classify statements -&gt; attach sources -&gt; narrow one conclusion.</a:t>
            </a:r>
            <a:endParaRPr lang="en-US" sz="2200" dirty="0"/>
          </a:p>
        </p:txBody>
      </p:sp>
      <p:sp>
        <p:nvSpPr>
          <p:cNvPr id="14" name="Shape 12"/>
          <p:cNvSpPr/>
          <p:nvPr/>
        </p:nvSpPr>
        <p:spPr>
          <a:xfrm>
            <a:off x="585216" y="5824728"/>
            <a:ext cx="10991088" cy="502920"/>
          </a:xfrm>
          <a:prstGeom prst="rect">
            <a:avLst/>
          </a:prstGeom>
          <a:solidFill>
            <a:srgbClr val="E5EEEB"/>
          </a:solidFill>
          <a:ln w="8890">
            <a:solidFill>
              <a:srgbClr val="E5EEEB"/>
            </a:solidFill>
            <a:prstDash val="solid"/>
          </a:ln>
        </p:spPr>
      </p:sp>
      <p:sp>
        <p:nvSpPr>
          <p:cNvPr id="15" name="Text 13"/>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Return to P22-P26. Use a populated report/bulletin pair.</a:t>
            </a:r>
            <a:endParaRPr lang="en-US" sz="1850" dirty="0"/>
          </a:p>
        </p:txBody>
      </p:sp>
      <p:sp>
        <p:nvSpPr>
          <p:cNvPr id="16" name="Text 14"/>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FACILITATOR ONLY / DO NOT PROJECT</a:t>
            </a:r>
            <a:endParaRPr lang="en-US" sz="1050" dirty="0"/>
          </a:p>
        </p:txBody>
      </p:sp>
      <p:sp>
        <p:nvSpPr>
          <p:cNvPr id="17" name="Text 15">
            <a:hlinkClick r:id="rId3" action="ppaction://hlinksldjump" tooltip="Go to the facilitator index"/>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facilitator index">
                  <a:extLst>
                    <a:ext uri="{A12FA001-AC4F-418D-AE19-62706E023703}">
                      <ahyp:hlinkClr xmlns:ahyp="http://schemas.microsoft.com/office/drawing/2018/hyperlinkcolor" val="tx"/>
                    </a:ext>
                  </a:extLst>
                </a:hlinkClick>
              </a:rPr>
              <a:t>INDEX</a:t>
            </a:r>
            <a:endParaRPr lang="en-US" sz="1100" dirty="0"/>
          </a:p>
        </p:txBody>
      </p:sp>
      <p:sp>
        <p:nvSpPr>
          <p:cNvPr id="18" name="Text 16"/>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I08 / 18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FACILITATOR FIELD GUIDE</a:t>
            </a:r>
            <a:endParaRPr lang="en-US" sz="1150" dirty="0"/>
          </a:p>
        </p:txBody>
      </p:sp>
      <p:sp>
        <p:nvSpPr>
          <p:cNvPr id="3" name="I09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Coach Mission 3</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A controlled failure is part of the learning evidence.</a:t>
            </a:r>
            <a:endParaRPr lang="en-US" sz="2400" dirty="0"/>
          </a:p>
        </p:txBody>
      </p:sp>
      <p:sp>
        <p:nvSpPr>
          <p:cNvPr id="5" name="Shape 3"/>
          <p:cNvSpPr/>
          <p:nvPr/>
        </p:nvSpPr>
        <p:spPr>
          <a:xfrm>
            <a:off x="585216" y="2752344"/>
            <a:ext cx="10991088" cy="822960"/>
          </a:xfrm>
          <a:prstGeom prst="roundRect">
            <a:avLst>
              <a:gd name="adj" fmla="val 13333"/>
            </a:avLst>
          </a:prstGeom>
          <a:solidFill>
            <a:srgbClr val="102A43"/>
          </a:solidFill>
          <a:ln w="8890">
            <a:solidFill>
              <a:srgbClr val="D4DDD9"/>
            </a:solidFill>
            <a:prstDash val="solid"/>
          </a:ln>
        </p:spPr>
      </p:sp>
      <p:sp>
        <p:nvSpPr>
          <p:cNvPr id="6" name="Text 4"/>
          <p:cNvSpPr/>
          <p:nvPr/>
        </p:nvSpPr>
        <p:spPr>
          <a:xfrm>
            <a:off x="749808" y="2944368"/>
            <a:ext cx="2304288" cy="356616"/>
          </a:xfrm>
          <a:prstGeom prst="rect">
            <a:avLst/>
          </a:prstGeom>
          <a:noFill/>
          <a:ln/>
        </p:spPr>
        <p:txBody>
          <a:bodyPr wrap="square" lIns="0" tIns="0" rIns="0" bIns="0" rtlCol="0" anchor="t"/>
          <a:lstStyle/>
          <a:p>
            <a:pPr marL="0" indent="0">
              <a:buNone/>
            </a:pPr>
            <a:r>
              <a:rPr lang="en-US" altLang="en-US" sz="1800" b="1" dirty="0">
                <a:solidFill>
                  <a:srgbClr val="5EEAD4"/>
                </a:solidFill>
                <a:latin typeface="Segoe UI" pitchFamily="34" charset="0"/>
                <a:ea typeface="Segoe UI" pitchFamily="34" charset="-122"/>
                <a:cs typeface="Segoe UI" pitchFamily="34" charset="-120"/>
              </a:rPr>
              <a:t>CORE</a:t>
            </a:r>
            <a:endParaRPr lang="en-US" sz="1800" dirty="0"/>
          </a:p>
        </p:txBody>
      </p:sp>
      <p:sp>
        <p:nvSpPr>
          <p:cNvPr id="7" name="Text 5"/>
          <p:cNvSpPr/>
          <p:nvPr/>
        </p:nvSpPr>
        <p:spPr>
          <a:xfrm>
            <a:off x="3273552" y="2825496"/>
            <a:ext cx="8019288" cy="694944"/>
          </a:xfrm>
          <a:prstGeom prst="rect">
            <a:avLst/>
          </a:prstGeom>
          <a:noFill/>
          <a:ln/>
        </p:spPr>
        <p:txBody>
          <a:bodyPr wrap="square" lIns="0" tIns="0" rIns="0" bIns="0" rtlCol="0" anchor="t"/>
          <a:lstStyle/>
          <a:p>
            <a:pPr marL="0" indent="0">
              <a:buNone/>
            </a:pPr>
            <a:r>
              <a:rPr lang="en-US" altLang="en-US" sz="2200" dirty="0">
                <a:solidFill>
                  <a:srgbClr val="FFFFFF"/>
                </a:solidFill>
                <a:latin typeface="Segoe UI" pitchFamily="34" charset="0"/>
                <a:ea typeface="Segoe UI" pitchFamily="34" charset="-122"/>
                <a:cs typeface="Segoe UI" pitchFamily="34" charset="-120"/>
              </a:rPr>
              <a:t>Weather, shelter and transport evidence.</a:t>
            </a:r>
            <a:endParaRPr lang="en-US" sz="2200" dirty="0"/>
          </a:p>
          <a:p>
            <a:pPr marL="0" indent="0">
              <a:buNone/>
            </a:pPr>
            <a:r>
              <a:rPr lang="en-US" altLang="en-US" sz="2200" dirty="0">
                <a:solidFill>
                  <a:srgbClr val="FFFFFF"/>
                </a:solidFill>
                <a:latin typeface="Segoe UI" pitchFamily="34" charset="0"/>
                <a:ea typeface="Segoe UI" pitchFamily="34" charset="-122"/>
                <a:cs typeface="Segoe UI" pitchFamily="34" charset="-120"/>
              </a:rPr>
              <a:t>A recommendation and safe failure handling.</a:t>
            </a:r>
            <a:endParaRPr lang="en-US" sz="2200" dirty="0"/>
          </a:p>
        </p:txBody>
      </p:sp>
      <p:sp>
        <p:nvSpPr>
          <p:cNvPr id="8" name="Shape 6"/>
          <p:cNvSpPr/>
          <p:nvPr/>
        </p:nvSpPr>
        <p:spPr>
          <a:xfrm>
            <a:off x="585216" y="3657600"/>
            <a:ext cx="10991088" cy="822960"/>
          </a:xfrm>
          <a:prstGeom prst="roundRect">
            <a:avLst>
              <a:gd name="adj" fmla="val 13333"/>
            </a:avLst>
          </a:prstGeom>
          <a:solidFill>
            <a:srgbClr val="FFFFFF"/>
          </a:solidFill>
          <a:ln w="8890">
            <a:solidFill>
              <a:srgbClr val="D4DDD9"/>
            </a:solidFill>
            <a:prstDash val="solid"/>
          </a:ln>
        </p:spPr>
      </p:sp>
      <p:sp>
        <p:nvSpPr>
          <p:cNvPr id="9" name="Text 7"/>
          <p:cNvSpPr/>
          <p:nvPr/>
        </p:nvSpPr>
        <p:spPr>
          <a:xfrm>
            <a:off x="749808" y="3849624"/>
            <a:ext cx="2304288" cy="356616"/>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LIKELY GAP</a:t>
            </a:r>
            <a:endParaRPr lang="en-US" sz="1800" dirty="0"/>
          </a:p>
        </p:txBody>
      </p:sp>
      <p:sp>
        <p:nvSpPr>
          <p:cNvPr id="10" name="Text 8"/>
          <p:cNvSpPr/>
          <p:nvPr/>
        </p:nvSpPr>
        <p:spPr>
          <a:xfrm>
            <a:off x="3273552" y="3730752"/>
            <a:ext cx="8019288" cy="694944"/>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Successful calls with no supported decision.</a:t>
            </a:r>
            <a:endParaRPr lang="en-US" sz="2200" dirty="0"/>
          </a:p>
        </p:txBody>
      </p:sp>
      <p:sp>
        <p:nvSpPr>
          <p:cNvPr id="11" name="Shape 9"/>
          <p:cNvSpPr/>
          <p:nvPr/>
        </p:nvSpPr>
        <p:spPr>
          <a:xfrm>
            <a:off x="585216" y="4562856"/>
            <a:ext cx="10991088" cy="822960"/>
          </a:xfrm>
          <a:prstGeom prst="roundRect">
            <a:avLst>
              <a:gd name="adj" fmla="val 13333"/>
            </a:avLst>
          </a:prstGeom>
          <a:solidFill>
            <a:srgbClr val="FFFFFF"/>
          </a:solidFill>
          <a:ln w="8890">
            <a:solidFill>
              <a:srgbClr val="D4DDD9"/>
            </a:solidFill>
            <a:prstDash val="solid"/>
          </a:ln>
        </p:spPr>
      </p:sp>
      <p:sp>
        <p:nvSpPr>
          <p:cNvPr id="12" name="Text 10"/>
          <p:cNvSpPr/>
          <p:nvPr/>
        </p:nvSpPr>
        <p:spPr>
          <a:xfrm>
            <a:off x="749808" y="4754880"/>
            <a:ext cx="2304288" cy="356616"/>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HINT LADDER</a:t>
            </a:r>
            <a:endParaRPr lang="en-US" sz="1800" dirty="0"/>
          </a:p>
        </p:txBody>
      </p:sp>
      <p:sp>
        <p:nvSpPr>
          <p:cNvPr id="13" name="Text 11"/>
          <p:cNvSpPr/>
          <p:nvPr/>
        </p:nvSpPr>
        <p:spPr>
          <a:xfrm>
            <a:off x="3273552" y="4636008"/>
            <a:ext cx="8019288" cy="694944"/>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Trace dependencies -&gt; inspect a result -&gt; audit the failed call.</a:t>
            </a:r>
            <a:endParaRPr lang="en-US" sz="2200" dirty="0"/>
          </a:p>
        </p:txBody>
      </p:sp>
      <p:sp>
        <p:nvSpPr>
          <p:cNvPr id="14" name="Shape 12"/>
          <p:cNvSpPr/>
          <p:nvPr/>
        </p:nvSpPr>
        <p:spPr>
          <a:xfrm>
            <a:off x="585216" y="5824728"/>
            <a:ext cx="10991088" cy="502920"/>
          </a:xfrm>
          <a:prstGeom prst="rect">
            <a:avLst/>
          </a:prstGeom>
          <a:solidFill>
            <a:srgbClr val="E5EEEB"/>
          </a:solidFill>
          <a:ln w="8890">
            <a:solidFill>
              <a:srgbClr val="E5EEEB"/>
            </a:solidFill>
            <a:prstDash val="solid"/>
          </a:ln>
        </p:spPr>
      </p:sp>
      <p:sp>
        <p:nvSpPr>
          <p:cNvPr id="15" name="Text 13"/>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Return to P31-P35. Keep applicable retries at or below two.</a:t>
            </a:r>
            <a:endParaRPr lang="en-US" sz="1850" dirty="0"/>
          </a:p>
        </p:txBody>
      </p:sp>
      <p:sp>
        <p:nvSpPr>
          <p:cNvPr id="16" name="Text 14"/>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FACILITATOR ONLY / DO NOT PROJECT</a:t>
            </a:r>
            <a:endParaRPr lang="en-US" sz="1050" dirty="0"/>
          </a:p>
        </p:txBody>
      </p:sp>
      <p:sp>
        <p:nvSpPr>
          <p:cNvPr id="17" name="Text 15">
            <a:hlinkClick r:id="rId3" action="ppaction://hlinksldjump" tooltip="Go to the facilitator index"/>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facilitator index">
                  <a:extLst>
                    <a:ext uri="{A12FA001-AC4F-418D-AE19-62706E023703}">
                      <ahyp:hlinkClr xmlns:ahyp="http://schemas.microsoft.com/office/drawing/2018/hyperlinkcolor" val="tx"/>
                    </a:ext>
                  </a:extLst>
                </a:hlinkClick>
              </a:rPr>
              <a:t>INDEX</a:t>
            </a:r>
            <a:endParaRPr lang="en-US" sz="1100" dirty="0"/>
          </a:p>
        </p:txBody>
      </p:sp>
      <p:sp>
        <p:nvSpPr>
          <p:cNvPr id="18" name="Text 16"/>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I09 / 18</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FACILITATOR FIELD GUIDE</a:t>
            </a:r>
            <a:endParaRPr lang="en-US" sz="1150" dirty="0"/>
          </a:p>
        </p:txBody>
      </p:sp>
      <p:sp>
        <p:nvSpPr>
          <p:cNvPr id="3" name="I10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Coach Mission 4</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Inspect the evidence path before admiring the topology.</a:t>
            </a:r>
            <a:endParaRPr lang="en-US" sz="2400" dirty="0"/>
          </a:p>
        </p:txBody>
      </p:sp>
      <p:sp>
        <p:nvSpPr>
          <p:cNvPr id="5" name="Shape 3"/>
          <p:cNvSpPr/>
          <p:nvPr/>
        </p:nvSpPr>
        <p:spPr>
          <a:xfrm>
            <a:off x="585216" y="2752344"/>
            <a:ext cx="10991088" cy="822960"/>
          </a:xfrm>
          <a:prstGeom prst="roundRect">
            <a:avLst>
              <a:gd name="adj" fmla="val 13333"/>
            </a:avLst>
          </a:prstGeom>
          <a:solidFill>
            <a:srgbClr val="102A43"/>
          </a:solidFill>
          <a:ln w="8890">
            <a:solidFill>
              <a:srgbClr val="D4DDD9"/>
            </a:solidFill>
            <a:prstDash val="solid"/>
          </a:ln>
        </p:spPr>
      </p:sp>
      <p:sp>
        <p:nvSpPr>
          <p:cNvPr id="6" name="Text 4"/>
          <p:cNvSpPr/>
          <p:nvPr/>
        </p:nvSpPr>
        <p:spPr>
          <a:xfrm>
            <a:off x="749808" y="2944368"/>
            <a:ext cx="2304288" cy="356616"/>
          </a:xfrm>
          <a:prstGeom prst="rect">
            <a:avLst/>
          </a:prstGeom>
          <a:noFill/>
          <a:ln/>
        </p:spPr>
        <p:txBody>
          <a:bodyPr wrap="square" lIns="0" tIns="0" rIns="0" bIns="0" rtlCol="0" anchor="t"/>
          <a:lstStyle/>
          <a:p>
            <a:pPr marL="0" indent="0">
              <a:buNone/>
            </a:pPr>
            <a:r>
              <a:rPr lang="en-US" altLang="en-US" sz="1800" b="1" dirty="0">
                <a:solidFill>
                  <a:srgbClr val="5EEAD4"/>
                </a:solidFill>
                <a:latin typeface="Segoe UI" pitchFamily="34" charset="0"/>
                <a:ea typeface="Segoe UI" pitchFamily="34" charset="-122"/>
                <a:cs typeface="Segoe UI" pitchFamily="34" charset="-120"/>
              </a:rPr>
              <a:t>ROLES</a:t>
            </a:r>
            <a:endParaRPr lang="en-US" sz="1800" dirty="0"/>
          </a:p>
        </p:txBody>
      </p:sp>
      <p:sp>
        <p:nvSpPr>
          <p:cNvPr id="7" name="Text 5"/>
          <p:cNvSpPr/>
          <p:nvPr/>
        </p:nvSpPr>
        <p:spPr>
          <a:xfrm>
            <a:off x="3273552" y="2825496"/>
            <a:ext cx="8019288" cy="694944"/>
          </a:xfrm>
          <a:prstGeom prst="rect">
            <a:avLst/>
          </a:prstGeom>
          <a:noFill/>
          <a:ln/>
        </p:spPr>
        <p:txBody>
          <a:bodyPr wrap="square" lIns="0" tIns="0" rIns="0" bIns="0" rtlCol="0" anchor="t"/>
          <a:lstStyle/>
          <a:p>
            <a:pPr marL="0" indent="0">
              <a:buNone/>
            </a:pPr>
            <a:r>
              <a:rPr lang="en-US" altLang="en-US" sz="2200" dirty="0">
                <a:solidFill>
                  <a:srgbClr val="FFFFFF"/>
                </a:solidFill>
                <a:latin typeface="Segoe UI" pitchFamily="34" charset="0"/>
                <a:ea typeface="Segoe UI" pitchFamily="34" charset="-122"/>
                <a:cs typeface="Segoe UI" pitchFamily="34" charset="-120"/>
              </a:rPr>
              <a:t>One responsibility per specialist.</a:t>
            </a:r>
            <a:endParaRPr lang="en-US" sz="2200" dirty="0"/>
          </a:p>
        </p:txBody>
      </p:sp>
      <p:sp>
        <p:nvSpPr>
          <p:cNvPr id="8" name="Shape 6"/>
          <p:cNvSpPr/>
          <p:nvPr/>
        </p:nvSpPr>
        <p:spPr>
          <a:xfrm>
            <a:off x="585216" y="3657600"/>
            <a:ext cx="10991088" cy="822960"/>
          </a:xfrm>
          <a:prstGeom prst="roundRect">
            <a:avLst>
              <a:gd name="adj" fmla="val 13333"/>
            </a:avLst>
          </a:prstGeom>
          <a:solidFill>
            <a:srgbClr val="FFFFFF"/>
          </a:solidFill>
          <a:ln w="8890">
            <a:solidFill>
              <a:srgbClr val="D4DDD9"/>
            </a:solidFill>
            <a:prstDash val="solid"/>
          </a:ln>
        </p:spPr>
      </p:sp>
      <p:sp>
        <p:nvSpPr>
          <p:cNvPr id="9" name="Text 7"/>
          <p:cNvSpPr/>
          <p:nvPr/>
        </p:nvSpPr>
        <p:spPr>
          <a:xfrm>
            <a:off x="749808" y="3849624"/>
            <a:ext cx="2304288" cy="356616"/>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HANDOFFS</a:t>
            </a:r>
            <a:endParaRPr lang="en-US" sz="1800" dirty="0"/>
          </a:p>
        </p:txBody>
      </p:sp>
      <p:sp>
        <p:nvSpPr>
          <p:cNvPr id="10" name="Text 8"/>
          <p:cNvSpPr/>
          <p:nvPr/>
        </p:nvSpPr>
        <p:spPr>
          <a:xfrm>
            <a:off x="3273552" y="3730752"/>
            <a:ext cx="8019288" cy="694944"/>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Explicit inputs and outputs; source evidence preserved.</a:t>
            </a:r>
            <a:endParaRPr lang="en-US" sz="2200" dirty="0"/>
          </a:p>
        </p:txBody>
      </p:sp>
      <p:sp>
        <p:nvSpPr>
          <p:cNvPr id="11" name="Shape 9"/>
          <p:cNvSpPr/>
          <p:nvPr/>
        </p:nvSpPr>
        <p:spPr>
          <a:xfrm>
            <a:off x="585216" y="4562856"/>
            <a:ext cx="10991088" cy="822960"/>
          </a:xfrm>
          <a:prstGeom prst="roundRect">
            <a:avLst>
              <a:gd name="adj" fmla="val 13333"/>
            </a:avLst>
          </a:prstGeom>
          <a:solidFill>
            <a:srgbClr val="FFFFFF"/>
          </a:solidFill>
          <a:ln w="8890">
            <a:solidFill>
              <a:srgbClr val="D4DDD9"/>
            </a:solidFill>
            <a:prstDash val="solid"/>
          </a:ln>
        </p:spPr>
      </p:sp>
      <p:sp>
        <p:nvSpPr>
          <p:cNvPr id="12" name="Text 10"/>
          <p:cNvSpPr/>
          <p:nvPr/>
        </p:nvSpPr>
        <p:spPr>
          <a:xfrm>
            <a:off x="749808" y="4754880"/>
            <a:ext cx="2304288" cy="356616"/>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REVIEW</a:t>
            </a:r>
            <a:endParaRPr lang="en-US" sz="1800" dirty="0"/>
          </a:p>
        </p:txBody>
      </p:sp>
      <p:sp>
        <p:nvSpPr>
          <p:cNvPr id="13" name="Text 11"/>
          <p:cNvSpPr/>
          <p:nvPr/>
        </p:nvSpPr>
        <p:spPr>
          <a:xfrm>
            <a:off x="3273552" y="4636008"/>
            <a:ext cx="8019288" cy="694944"/>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A different role checks the decision.</a:t>
            </a:r>
            <a:endParaRPr lang="en-US" sz="2200" dirty="0"/>
          </a:p>
        </p:txBody>
      </p:sp>
      <p:sp>
        <p:nvSpPr>
          <p:cNvPr id="14" name="Shape 12"/>
          <p:cNvSpPr/>
          <p:nvPr/>
        </p:nvSpPr>
        <p:spPr>
          <a:xfrm>
            <a:off x="585216" y="5824728"/>
            <a:ext cx="10991088" cy="502920"/>
          </a:xfrm>
          <a:prstGeom prst="rect">
            <a:avLst/>
          </a:prstGeom>
          <a:solidFill>
            <a:srgbClr val="E5EEEB"/>
          </a:solidFill>
          <a:ln w="8890">
            <a:solidFill>
              <a:srgbClr val="E5EEEB"/>
            </a:solidFill>
            <a:prstDash val="solid"/>
          </a:ln>
        </p:spPr>
      </p:sp>
      <p:sp>
        <p:nvSpPr>
          <p:cNvPr id="15" name="Text 13"/>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Return to P39-P44. Require at least three distinct specialist roles.</a:t>
            </a:r>
            <a:endParaRPr lang="en-US" sz="1850" dirty="0"/>
          </a:p>
        </p:txBody>
      </p:sp>
      <p:sp>
        <p:nvSpPr>
          <p:cNvPr id="16" name="Text 14"/>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FACILITATOR ONLY / DO NOT PROJECT</a:t>
            </a:r>
            <a:endParaRPr lang="en-US" sz="1050" dirty="0"/>
          </a:p>
        </p:txBody>
      </p:sp>
      <p:sp>
        <p:nvSpPr>
          <p:cNvPr id="17" name="Text 15">
            <a:hlinkClick r:id="rId3" action="ppaction://hlinksldjump" tooltip="Go to the facilitator index"/>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facilitator index">
                  <a:extLst>
                    <a:ext uri="{A12FA001-AC4F-418D-AE19-62706E023703}">
                      <ahyp:hlinkClr xmlns:ahyp="http://schemas.microsoft.com/office/drawing/2018/hyperlinkcolor" val="tx"/>
                    </a:ext>
                  </a:extLst>
                </a:hlinkClick>
              </a:rPr>
              <a:t>INDEX</a:t>
            </a:r>
            <a:endParaRPr lang="en-US" sz="1100" dirty="0"/>
          </a:p>
        </p:txBody>
      </p:sp>
      <p:sp>
        <p:nvSpPr>
          <p:cNvPr id="18" name="Text 16"/>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I10 / 18</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FACILITATOR FIELD GUIDE</a:t>
            </a:r>
            <a:endParaRPr lang="en-US" sz="1150" dirty="0"/>
          </a:p>
        </p:txBody>
      </p:sp>
      <p:sp>
        <p:nvSpPr>
          <p:cNvPr id="3" name="I11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Coach Mission 5</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Review the combined plan, not only individual actions.</a:t>
            </a:r>
            <a:endParaRPr lang="en-US" sz="2400" dirty="0"/>
          </a:p>
        </p:txBody>
      </p:sp>
      <p:sp>
        <p:nvSpPr>
          <p:cNvPr id="5" name="Shape 3"/>
          <p:cNvSpPr/>
          <p:nvPr/>
        </p:nvSpPr>
        <p:spPr>
          <a:xfrm>
            <a:off x="585216" y="2752344"/>
            <a:ext cx="10991088" cy="822960"/>
          </a:xfrm>
          <a:prstGeom prst="roundRect">
            <a:avLst>
              <a:gd name="adj" fmla="val 13333"/>
            </a:avLst>
          </a:prstGeom>
          <a:solidFill>
            <a:srgbClr val="102A43"/>
          </a:solidFill>
          <a:ln w="8890">
            <a:solidFill>
              <a:srgbClr val="D4DDD9"/>
            </a:solidFill>
            <a:prstDash val="solid"/>
          </a:ln>
        </p:spPr>
      </p:sp>
      <p:sp>
        <p:nvSpPr>
          <p:cNvPr id="6" name="Text 4"/>
          <p:cNvSpPr/>
          <p:nvPr/>
        </p:nvSpPr>
        <p:spPr>
          <a:xfrm>
            <a:off x="749808" y="2944368"/>
            <a:ext cx="2304288" cy="356616"/>
          </a:xfrm>
          <a:prstGeom prst="rect">
            <a:avLst/>
          </a:prstGeom>
          <a:noFill/>
          <a:ln/>
        </p:spPr>
        <p:txBody>
          <a:bodyPr wrap="square" lIns="0" tIns="0" rIns="0" bIns="0" rtlCol="0" anchor="t"/>
          <a:lstStyle/>
          <a:p>
            <a:pPr marL="0" indent="0">
              <a:buNone/>
            </a:pPr>
            <a:r>
              <a:rPr lang="en-US" altLang="en-US" sz="1800" b="1" dirty="0">
                <a:solidFill>
                  <a:srgbClr val="5EEAD4"/>
                </a:solidFill>
                <a:latin typeface="Segoe UI" pitchFamily="34" charset="0"/>
                <a:ea typeface="Segoe UI" pitchFamily="34" charset="-122"/>
                <a:cs typeface="Segoe UI" pitchFamily="34" charset="-120"/>
              </a:rPr>
              <a:t>CORE</a:t>
            </a:r>
            <a:endParaRPr lang="en-US" sz="1800" dirty="0"/>
          </a:p>
        </p:txBody>
      </p:sp>
      <p:sp>
        <p:nvSpPr>
          <p:cNvPr id="7" name="Text 5"/>
          <p:cNvSpPr/>
          <p:nvPr/>
        </p:nvSpPr>
        <p:spPr>
          <a:xfrm>
            <a:off x="3273552" y="2825496"/>
            <a:ext cx="8019288" cy="694944"/>
          </a:xfrm>
          <a:prstGeom prst="rect">
            <a:avLst/>
          </a:prstGeom>
          <a:noFill/>
          <a:ln/>
        </p:spPr>
        <p:txBody>
          <a:bodyPr wrap="square" lIns="0" tIns="0" rIns="0" bIns="0" rtlCol="0" anchor="t"/>
          <a:lstStyle/>
          <a:p>
            <a:pPr marL="0" indent="0">
              <a:buNone/>
            </a:pPr>
            <a:r>
              <a:rPr lang="en-US" altLang="en-US" sz="2200" dirty="0">
                <a:solidFill>
                  <a:srgbClr val="FFFFFF"/>
                </a:solidFill>
                <a:latin typeface="Segoe UI" pitchFamily="34" charset="0"/>
                <a:ea typeface="Segoe UI" pitchFamily="34" charset="-122"/>
                <a:cs typeface="Segoe UI" pitchFamily="34" charset="-120"/>
              </a:rPr>
              <a:t>Current evidence, priorities and allocations.</a:t>
            </a:r>
            <a:endParaRPr lang="en-US" sz="2200" dirty="0"/>
          </a:p>
          <a:p>
            <a:pPr marL="0" indent="0">
              <a:buNone/>
            </a:pPr>
            <a:r>
              <a:rPr lang="en-US" altLang="en-US" sz="2200" dirty="0">
                <a:solidFill>
                  <a:srgbClr val="FFFFFF"/>
                </a:solidFill>
                <a:latin typeface="Segoe UI" pitchFamily="34" charset="0"/>
                <a:ea typeface="Segoe UI" pitchFamily="34" charset="-122"/>
                <a:cs typeface="Segoe UI" pitchFamily="34" charset="-120"/>
              </a:rPr>
              <a:t>Handoffs, independent review and an audit trail.</a:t>
            </a:r>
            <a:endParaRPr lang="en-US" sz="2200" dirty="0"/>
          </a:p>
        </p:txBody>
      </p:sp>
      <p:sp>
        <p:nvSpPr>
          <p:cNvPr id="8" name="Shape 6"/>
          <p:cNvSpPr/>
          <p:nvPr/>
        </p:nvSpPr>
        <p:spPr>
          <a:xfrm>
            <a:off x="585216" y="3657600"/>
            <a:ext cx="10991088" cy="822960"/>
          </a:xfrm>
          <a:prstGeom prst="roundRect">
            <a:avLst>
              <a:gd name="adj" fmla="val 13333"/>
            </a:avLst>
          </a:prstGeom>
          <a:solidFill>
            <a:srgbClr val="FFFFFF"/>
          </a:solidFill>
          <a:ln w="8890">
            <a:solidFill>
              <a:srgbClr val="D4DDD9"/>
            </a:solidFill>
            <a:prstDash val="solid"/>
          </a:ln>
        </p:spPr>
      </p:sp>
      <p:sp>
        <p:nvSpPr>
          <p:cNvPr id="9" name="Text 7"/>
          <p:cNvSpPr/>
          <p:nvPr/>
        </p:nvSpPr>
        <p:spPr>
          <a:xfrm>
            <a:off x="749808" y="3849624"/>
            <a:ext cx="2304288" cy="356616"/>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LIKELY GAP</a:t>
            </a:r>
            <a:endParaRPr lang="en-US" sz="1800" dirty="0"/>
          </a:p>
        </p:txBody>
      </p:sp>
      <p:sp>
        <p:nvSpPr>
          <p:cNvPr id="10" name="Text 8"/>
          <p:cNvSpPr/>
          <p:nvPr/>
        </p:nvSpPr>
        <p:spPr>
          <a:xfrm>
            <a:off x="3273552" y="3730752"/>
            <a:ext cx="8019288" cy="694944"/>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Locally plausible actions compete for the same resources.</a:t>
            </a:r>
            <a:endParaRPr lang="en-US" sz="2200" dirty="0"/>
          </a:p>
        </p:txBody>
      </p:sp>
      <p:sp>
        <p:nvSpPr>
          <p:cNvPr id="11" name="Shape 9"/>
          <p:cNvSpPr/>
          <p:nvPr/>
        </p:nvSpPr>
        <p:spPr>
          <a:xfrm>
            <a:off x="585216" y="4562856"/>
            <a:ext cx="10991088" cy="822960"/>
          </a:xfrm>
          <a:prstGeom prst="roundRect">
            <a:avLst>
              <a:gd name="adj" fmla="val 13333"/>
            </a:avLst>
          </a:prstGeom>
          <a:solidFill>
            <a:srgbClr val="FFFFFF"/>
          </a:solidFill>
          <a:ln w="8890">
            <a:solidFill>
              <a:srgbClr val="D4DDD9"/>
            </a:solidFill>
            <a:prstDash val="solid"/>
          </a:ln>
        </p:spPr>
      </p:sp>
      <p:sp>
        <p:nvSpPr>
          <p:cNvPr id="12" name="Text 10"/>
          <p:cNvSpPr/>
          <p:nvPr/>
        </p:nvSpPr>
        <p:spPr>
          <a:xfrm>
            <a:off x="749808" y="4754880"/>
            <a:ext cx="2304288" cy="356616"/>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HINT LADDER</a:t>
            </a:r>
            <a:endParaRPr lang="en-US" sz="1800" dirty="0"/>
          </a:p>
        </p:txBody>
      </p:sp>
      <p:sp>
        <p:nvSpPr>
          <p:cNvPr id="13" name="Text 11"/>
          <p:cNvSpPr/>
          <p:nvPr/>
        </p:nvSpPr>
        <p:spPr>
          <a:xfrm>
            <a:off x="3273552" y="4636008"/>
            <a:ext cx="8019288" cy="694944"/>
          </a:xfrm>
          <a:prstGeom prst="rect">
            <a:avLst/>
          </a:prstGeom>
          <a:noFill/>
          <a:ln/>
        </p:spPr>
        <p:txBody>
          <a:bodyPr wrap="square" lIns="0" tIns="0" rIns="0" bIns="0" rtlCol="0" anchor="t"/>
          <a:lstStyle/>
          <a:p>
            <a:pPr marL="0" indent="0">
              <a:buNone/>
            </a:pPr>
            <a:r>
              <a:rPr lang="en-US" altLang="en-US" sz="2200" dirty="0">
                <a:solidFill>
                  <a:srgbClr val="102A43"/>
                </a:solidFill>
                <a:latin typeface="Segoe UI" pitchFamily="34" charset="0"/>
                <a:ea typeface="Segoe UI" pitchFamily="34" charset="-122"/>
                <a:cs typeface="Segoe UI" pitchFamily="34" charset="-120"/>
              </a:rPr>
              <a:t>Find dependencies. Check totals.</a:t>
            </a:r>
            <a:endParaRPr lang="en-US" sz="2200" dirty="0"/>
          </a:p>
          <a:p>
            <a:pPr marL="0" indent="0">
              <a:buNone/>
            </a:pPr>
            <a:r>
              <a:rPr lang="en-US" altLang="en-US" sz="2200" dirty="0">
                <a:solidFill>
                  <a:srgbClr val="102A43"/>
                </a:solidFill>
                <a:latin typeface="Segoe UI" pitchFamily="34" charset="0"/>
                <a:ea typeface="Segoe UI" pitchFamily="34" charset="-122"/>
                <a:cs typeface="Segoe UI" pitchFamily="34" charset="-120"/>
              </a:rPr>
              <a:t>Inspect the reviewed version.</a:t>
            </a:r>
            <a:endParaRPr lang="en-US" sz="2200" dirty="0"/>
          </a:p>
        </p:txBody>
      </p:sp>
      <p:sp>
        <p:nvSpPr>
          <p:cNvPr id="14" name="Shape 12"/>
          <p:cNvSpPr/>
          <p:nvPr/>
        </p:nvSpPr>
        <p:spPr>
          <a:xfrm>
            <a:off x="585216" y="5824728"/>
            <a:ext cx="10991088" cy="502920"/>
          </a:xfrm>
          <a:prstGeom prst="rect">
            <a:avLst/>
          </a:prstGeom>
          <a:solidFill>
            <a:srgbClr val="E5EEEB"/>
          </a:solidFill>
          <a:ln w="8890">
            <a:solidFill>
              <a:srgbClr val="E5EEEB"/>
            </a:solidFill>
            <a:prstDash val="solid"/>
          </a:ln>
        </p:spPr>
      </p:sp>
      <p:sp>
        <p:nvSpPr>
          <p:cNvPr id="15" name="Text 13"/>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Return to P47-P52. Human-approval tracking remains a stated advanced objective.</a:t>
            </a:r>
            <a:endParaRPr lang="en-US" sz="1850" dirty="0"/>
          </a:p>
        </p:txBody>
      </p:sp>
      <p:sp>
        <p:nvSpPr>
          <p:cNvPr id="16" name="Text 14"/>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FACILITATOR ONLY / DO NOT PROJECT</a:t>
            </a:r>
            <a:endParaRPr lang="en-US" sz="1050" dirty="0"/>
          </a:p>
        </p:txBody>
      </p:sp>
      <p:sp>
        <p:nvSpPr>
          <p:cNvPr id="17" name="Text 15">
            <a:hlinkClick r:id="rId3" action="ppaction://hlinksldjump" tooltip="Go to the facilitator index"/>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facilitator index">
                  <a:extLst>
                    <a:ext uri="{A12FA001-AC4F-418D-AE19-62706E023703}">
                      <ahyp:hlinkClr xmlns:ahyp="http://schemas.microsoft.com/office/drawing/2018/hyperlinkcolor" val="tx"/>
                    </a:ext>
                  </a:extLst>
                </a:hlinkClick>
              </a:rPr>
              <a:t>INDEX</a:t>
            </a:r>
            <a:endParaRPr lang="en-US" sz="1100" dirty="0"/>
          </a:p>
        </p:txBody>
      </p:sp>
      <p:sp>
        <p:nvSpPr>
          <p:cNvPr id="18" name="Text 16"/>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I11 / 18</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FACILITATOR FIELD GUIDE</a:t>
            </a:r>
            <a:endParaRPr lang="en-US" sz="1150" dirty="0"/>
          </a:p>
        </p:txBody>
      </p:sp>
      <p:sp>
        <p:nvSpPr>
          <p:cNvPr id="3" name="I12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Support mixed experience levels</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Increase guidance only as much as the unit needs.</a:t>
            </a:r>
            <a:endParaRPr lang="en-US" sz="2400" dirty="0"/>
          </a:p>
        </p:txBody>
      </p:sp>
      <p:sp>
        <p:nvSpPr>
          <p:cNvPr id="5" name="Shape 3"/>
          <p:cNvSpPr/>
          <p:nvPr/>
        </p:nvSpPr>
        <p:spPr>
          <a:xfrm>
            <a:off x="585216" y="2752344"/>
            <a:ext cx="10991088" cy="859536"/>
          </a:xfrm>
          <a:prstGeom prst="roundRect">
            <a:avLst>
              <a:gd name="adj" fmla="val 12766"/>
            </a:avLst>
          </a:prstGeom>
          <a:solidFill>
            <a:srgbClr val="FFFFFF"/>
          </a:solidFill>
          <a:ln w="8890">
            <a:solidFill>
              <a:srgbClr val="D4DDD9"/>
            </a:solidFill>
            <a:prstDash val="solid"/>
          </a:ln>
        </p:spPr>
      </p:sp>
      <p:sp>
        <p:nvSpPr>
          <p:cNvPr id="6" name="Text 4"/>
          <p:cNvSpPr/>
          <p:nvPr/>
        </p:nvSpPr>
        <p:spPr>
          <a:xfrm>
            <a:off x="740664" y="2935224"/>
            <a:ext cx="1371600" cy="384048"/>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LEVEL 1</a:t>
            </a:r>
            <a:endParaRPr lang="en-US" sz="1800" dirty="0"/>
          </a:p>
        </p:txBody>
      </p:sp>
      <p:sp>
        <p:nvSpPr>
          <p:cNvPr id="7" name="Text 5"/>
          <p:cNvSpPr/>
          <p:nvPr/>
        </p:nvSpPr>
        <p:spPr>
          <a:xfrm>
            <a:off x="2231136" y="2816352"/>
            <a:ext cx="4526280" cy="731520"/>
          </a:xfrm>
          <a:prstGeom prst="rect">
            <a:avLst/>
          </a:prstGeom>
          <a:noFill/>
          <a:ln/>
        </p:spPr>
        <p:txBody>
          <a:bodyPr wrap="square" lIns="0" tIns="0" rIns="0" bIns="0" rtlCol="0" anchor="t"/>
          <a:lstStyle/>
          <a:p>
            <a:pPr marL="0" indent="0">
              <a:buNone/>
            </a:pPr>
            <a:r>
              <a:rPr lang="en-US" altLang="en-US" sz="2300" b="1" dirty="0">
                <a:solidFill>
                  <a:srgbClr val="102A43"/>
                </a:solidFill>
                <a:latin typeface="Segoe UI" pitchFamily="34" charset="0"/>
                <a:ea typeface="Segoe UI" pitchFamily="34" charset="-122"/>
                <a:cs typeface="Segoe UI" pitchFamily="34" charset="-120"/>
              </a:rPr>
              <a:t>Conceptual direction</a:t>
            </a:r>
            <a:endParaRPr lang="en-US" sz="2300" dirty="0"/>
          </a:p>
        </p:txBody>
      </p:sp>
      <p:sp>
        <p:nvSpPr>
          <p:cNvPr id="8" name="Text 6"/>
          <p:cNvSpPr/>
          <p:nvPr/>
        </p:nvSpPr>
        <p:spPr>
          <a:xfrm>
            <a:off x="6949440" y="2852928"/>
            <a:ext cx="4443984" cy="685800"/>
          </a:xfrm>
          <a:prstGeom prst="rect">
            <a:avLst/>
          </a:prstGeom>
          <a:noFill/>
          <a:ln/>
        </p:spPr>
        <p:txBody>
          <a:bodyPr wrap="square" lIns="0" tIns="0" rIns="0" bIns="0" rtlCol="0" anchor="t"/>
          <a:lstStyle/>
          <a:p>
            <a:pPr marL="0" indent="0">
              <a:buNone/>
            </a:pPr>
            <a:r>
              <a:rPr lang="en-US" altLang="en-US" sz="2000" dirty="0">
                <a:solidFill>
                  <a:srgbClr val="526779"/>
                </a:solidFill>
                <a:latin typeface="Segoe UI" pitchFamily="34" charset="0"/>
                <a:ea typeface="Segoe UI" pitchFamily="34" charset="-122"/>
                <a:cs typeface="Segoe UI" pitchFamily="34" charset="-120"/>
              </a:rPr>
              <a:t>Ask which boundary or source is missing.</a:t>
            </a:r>
            <a:endParaRPr lang="en-US" sz="2000" dirty="0"/>
          </a:p>
        </p:txBody>
      </p:sp>
      <p:sp>
        <p:nvSpPr>
          <p:cNvPr id="9" name="Shape 7"/>
          <p:cNvSpPr/>
          <p:nvPr/>
        </p:nvSpPr>
        <p:spPr>
          <a:xfrm>
            <a:off x="585216" y="3712464"/>
            <a:ext cx="10991088" cy="859536"/>
          </a:xfrm>
          <a:prstGeom prst="roundRect">
            <a:avLst>
              <a:gd name="adj" fmla="val 12766"/>
            </a:avLst>
          </a:prstGeom>
          <a:solidFill>
            <a:srgbClr val="E5EEEB"/>
          </a:solidFill>
          <a:ln w="8890">
            <a:solidFill>
              <a:srgbClr val="D4DDD9"/>
            </a:solidFill>
            <a:prstDash val="solid"/>
          </a:ln>
        </p:spPr>
      </p:sp>
      <p:sp>
        <p:nvSpPr>
          <p:cNvPr id="10" name="Text 8"/>
          <p:cNvSpPr/>
          <p:nvPr/>
        </p:nvSpPr>
        <p:spPr>
          <a:xfrm>
            <a:off x="740664" y="3895344"/>
            <a:ext cx="1371600" cy="384048"/>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LEVEL 2</a:t>
            </a:r>
            <a:endParaRPr lang="en-US" sz="1800" dirty="0"/>
          </a:p>
        </p:txBody>
      </p:sp>
      <p:sp>
        <p:nvSpPr>
          <p:cNvPr id="11" name="Text 9"/>
          <p:cNvSpPr/>
          <p:nvPr/>
        </p:nvSpPr>
        <p:spPr>
          <a:xfrm>
            <a:off x="2231136" y="3776472"/>
            <a:ext cx="4526280" cy="731520"/>
          </a:xfrm>
          <a:prstGeom prst="rect">
            <a:avLst/>
          </a:prstGeom>
          <a:noFill/>
          <a:ln/>
        </p:spPr>
        <p:txBody>
          <a:bodyPr wrap="square" lIns="0" tIns="0" rIns="0" bIns="0" rtlCol="0" anchor="t"/>
          <a:lstStyle/>
          <a:p>
            <a:pPr marL="0" indent="0">
              <a:buNone/>
            </a:pPr>
            <a:r>
              <a:rPr lang="en-US" altLang="en-US" sz="2300" b="1" dirty="0">
                <a:solidFill>
                  <a:srgbClr val="102A43"/>
                </a:solidFill>
                <a:latin typeface="Segoe UI" pitchFamily="34" charset="0"/>
                <a:ea typeface="Segoe UI" pitchFamily="34" charset="-122"/>
                <a:cs typeface="Segoe UI" pitchFamily="34" charset="-120"/>
              </a:rPr>
              <a:t>Implementation direction</a:t>
            </a:r>
            <a:endParaRPr lang="en-US" sz="2300" dirty="0"/>
          </a:p>
        </p:txBody>
      </p:sp>
      <p:sp>
        <p:nvSpPr>
          <p:cNvPr id="12" name="Text 10"/>
          <p:cNvSpPr/>
          <p:nvPr/>
        </p:nvSpPr>
        <p:spPr>
          <a:xfrm>
            <a:off x="6949440" y="3813048"/>
            <a:ext cx="4443984" cy="685800"/>
          </a:xfrm>
          <a:prstGeom prst="rect">
            <a:avLst/>
          </a:prstGeom>
          <a:noFill/>
          <a:ln/>
        </p:spPr>
        <p:txBody>
          <a:bodyPr wrap="square" lIns="0" tIns="0" rIns="0" bIns="0" rtlCol="0" anchor="t"/>
          <a:lstStyle/>
          <a:p>
            <a:pPr marL="0" indent="0">
              <a:buNone/>
            </a:pPr>
            <a:r>
              <a:rPr lang="en-US" altLang="en-US" sz="2000" dirty="0">
                <a:solidFill>
                  <a:srgbClr val="526779"/>
                </a:solidFill>
                <a:latin typeface="Segoe UI" pitchFamily="34" charset="0"/>
                <a:ea typeface="Segoe UI" pitchFamily="34" charset="-122"/>
                <a:cs typeface="Segoe UI" pitchFamily="34" charset="-120"/>
              </a:rPr>
              <a:t>Point to the relevant contract or interface.</a:t>
            </a:r>
            <a:endParaRPr lang="en-US" sz="2000" dirty="0"/>
          </a:p>
        </p:txBody>
      </p:sp>
      <p:sp>
        <p:nvSpPr>
          <p:cNvPr id="13" name="Shape 11"/>
          <p:cNvSpPr/>
          <p:nvPr/>
        </p:nvSpPr>
        <p:spPr>
          <a:xfrm>
            <a:off x="585216" y="4672584"/>
            <a:ext cx="10991088" cy="859536"/>
          </a:xfrm>
          <a:prstGeom prst="roundRect">
            <a:avLst>
              <a:gd name="adj" fmla="val 12766"/>
            </a:avLst>
          </a:prstGeom>
          <a:solidFill>
            <a:srgbClr val="FFFFFF"/>
          </a:solidFill>
          <a:ln w="8890">
            <a:solidFill>
              <a:srgbClr val="D4DDD9"/>
            </a:solidFill>
            <a:prstDash val="solid"/>
          </a:ln>
        </p:spPr>
      </p:sp>
      <p:sp>
        <p:nvSpPr>
          <p:cNvPr id="14" name="Text 12"/>
          <p:cNvSpPr/>
          <p:nvPr/>
        </p:nvSpPr>
        <p:spPr>
          <a:xfrm>
            <a:off x="740664" y="4855464"/>
            <a:ext cx="1371600" cy="384048"/>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LEVEL 3</a:t>
            </a:r>
            <a:endParaRPr lang="en-US" sz="1800" dirty="0"/>
          </a:p>
        </p:txBody>
      </p:sp>
      <p:sp>
        <p:nvSpPr>
          <p:cNvPr id="15" name="Text 13"/>
          <p:cNvSpPr/>
          <p:nvPr/>
        </p:nvSpPr>
        <p:spPr>
          <a:xfrm>
            <a:off x="2231136" y="4736592"/>
            <a:ext cx="4526280" cy="731520"/>
          </a:xfrm>
          <a:prstGeom prst="rect">
            <a:avLst/>
          </a:prstGeom>
          <a:noFill/>
          <a:ln/>
        </p:spPr>
        <p:txBody>
          <a:bodyPr wrap="square" lIns="0" tIns="0" rIns="0" bIns="0" rtlCol="0" anchor="t"/>
          <a:lstStyle/>
          <a:p>
            <a:pPr marL="0" indent="0">
              <a:buNone/>
            </a:pPr>
            <a:r>
              <a:rPr lang="en-US" altLang="en-US" sz="2300" b="1" dirty="0">
                <a:solidFill>
                  <a:srgbClr val="102A43"/>
                </a:solidFill>
                <a:latin typeface="Segoe UI" pitchFamily="34" charset="0"/>
                <a:ea typeface="Segoe UI" pitchFamily="34" charset="-122"/>
                <a:cs typeface="Segoe UI" pitchFamily="34" charset="-120"/>
              </a:rPr>
              <a:t>Partial diagnostic example</a:t>
            </a:r>
            <a:endParaRPr lang="en-US" sz="2300" dirty="0"/>
          </a:p>
        </p:txBody>
      </p:sp>
      <p:sp>
        <p:nvSpPr>
          <p:cNvPr id="16" name="Text 14"/>
          <p:cNvSpPr/>
          <p:nvPr/>
        </p:nvSpPr>
        <p:spPr>
          <a:xfrm>
            <a:off x="6949440" y="4773168"/>
            <a:ext cx="4443984" cy="685800"/>
          </a:xfrm>
          <a:prstGeom prst="rect">
            <a:avLst/>
          </a:prstGeom>
          <a:noFill/>
          <a:ln/>
        </p:spPr>
        <p:txBody>
          <a:bodyPr wrap="square" lIns="0" tIns="0" rIns="0" bIns="0" rtlCol="0" anchor="t"/>
          <a:lstStyle/>
          <a:p>
            <a:pPr marL="0" indent="0">
              <a:buNone/>
            </a:pPr>
            <a:r>
              <a:rPr lang="en-US" altLang="en-US" sz="2000" dirty="0">
                <a:solidFill>
                  <a:srgbClr val="526779"/>
                </a:solidFill>
                <a:latin typeface="Segoe UI" pitchFamily="34" charset="0"/>
                <a:ea typeface="Segoe UI" pitchFamily="34" charset="-122"/>
                <a:cs typeface="Segoe UI" pitchFamily="34" charset="-120"/>
              </a:rPr>
              <a:t>Inspect one failing artifact together.</a:t>
            </a:r>
            <a:endParaRPr lang="en-US" sz="2000" dirty="0"/>
          </a:p>
        </p:txBody>
      </p:sp>
      <p:sp>
        <p:nvSpPr>
          <p:cNvPr id="17" name="Shape 15"/>
          <p:cNvSpPr/>
          <p:nvPr/>
        </p:nvSpPr>
        <p:spPr>
          <a:xfrm>
            <a:off x="585216" y="5824728"/>
            <a:ext cx="10991088" cy="502920"/>
          </a:xfrm>
          <a:prstGeom prst="rect">
            <a:avLst/>
          </a:prstGeom>
          <a:solidFill>
            <a:srgbClr val="E5EEEB"/>
          </a:solidFill>
          <a:ln w="8890">
            <a:solidFill>
              <a:srgbClr val="E5EEEB"/>
            </a:solidFill>
            <a:prstDash val="solid"/>
          </a:ln>
        </p:spPr>
      </p:sp>
      <p:sp>
        <p:nvSpPr>
          <p:cNvPr id="18" name="Text 16"/>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Beginners keep a viable core path. Advanced units deepen the same problem.</a:t>
            </a:r>
            <a:endParaRPr lang="en-US" sz="1850" dirty="0"/>
          </a:p>
        </p:txBody>
      </p:sp>
      <p:sp>
        <p:nvSpPr>
          <p:cNvPr id="19" name="Text 17"/>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FACILITATOR ONLY / DO NOT PROJECT</a:t>
            </a:r>
            <a:endParaRPr lang="en-US" sz="1050" dirty="0"/>
          </a:p>
        </p:txBody>
      </p:sp>
      <p:sp>
        <p:nvSpPr>
          <p:cNvPr id="20" name="Text 18">
            <a:hlinkClick r:id="rId3" action="ppaction://hlinksldjump" tooltip="Go to the facilitator index"/>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facilitator index">
                  <a:extLst>
                    <a:ext uri="{A12FA001-AC4F-418D-AE19-62706E023703}">
                      <ahyp:hlinkClr xmlns:ahyp="http://schemas.microsoft.com/office/drawing/2018/hyperlinkcolor" val="tx"/>
                    </a:ext>
                  </a:extLst>
                </a:hlinkClick>
              </a:rPr>
              <a:t>INDEX</a:t>
            </a:r>
            <a:endParaRPr lang="en-US" sz="1100" dirty="0"/>
          </a:p>
        </p:txBody>
      </p:sp>
      <p:sp>
        <p:nvSpPr>
          <p:cNvPr id="21" name="Text 19"/>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I12 / 18</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FACILITATOR FIELD GUIDE</a:t>
            </a:r>
            <a:endParaRPr lang="en-US" sz="1150" dirty="0"/>
          </a:p>
        </p:txBody>
      </p:sp>
      <p:sp>
        <p:nvSpPr>
          <p:cNvPr id="3" name="I13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Introduce a change deliberately</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Introduce a modifier only when it serves the learning.</a:t>
            </a:r>
            <a:endParaRPr lang="en-US" sz="2400" dirty="0"/>
          </a:p>
        </p:txBody>
      </p:sp>
      <p:sp>
        <p:nvSpPr>
          <p:cNvPr id="5" name="Shape 3"/>
          <p:cNvSpPr/>
          <p:nvPr/>
        </p:nvSpPr>
        <p:spPr>
          <a:xfrm>
            <a:off x="585216" y="2752344"/>
            <a:ext cx="10991088" cy="859536"/>
          </a:xfrm>
          <a:prstGeom prst="roundRect">
            <a:avLst>
              <a:gd name="adj" fmla="val 12766"/>
            </a:avLst>
          </a:prstGeom>
          <a:solidFill>
            <a:srgbClr val="FFFFFF"/>
          </a:solidFill>
          <a:ln w="8890">
            <a:solidFill>
              <a:srgbClr val="D4DDD9"/>
            </a:solidFill>
            <a:prstDash val="solid"/>
          </a:ln>
        </p:spPr>
      </p:sp>
      <p:sp>
        <p:nvSpPr>
          <p:cNvPr id="6" name="Text 4"/>
          <p:cNvSpPr/>
          <p:nvPr/>
        </p:nvSpPr>
        <p:spPr>
          <a:xfrm>
            <a:off x="740664" y="2935224"/>
            <a:ext cx="1371600" cy="384048"/>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CHECK</a:t>
            </a:r>
            <a:endParaRPr lang="en-US" sz="1800" dirty="0"/>
          </a:p>
        </p:txBody>
      </p:sp>
      <p:sp>
        <p:nvSpPr>
          <p:cNvPr id="7" name="Text 5"/>
          <p:cNvSpPr/>
          <p:nvPr/>
        </p:nvSpPr>
        <p:spPr>
          <a:xfrm>
            <a:off x="2231136" y="2816352"/>
            <a:ext cx="4526280" cy="731520"/>
          </a:xfrm>
          <a:prstGeom prst="rect">
            <a:avLst/>
          </a:prstGeom>
          <a:noFill/>
          <a:ln/>
        </p:spPr>
        <p:txBody>
          <a:bodyPr wrap="square" lIns="0" tIns="0" rIns="0" bIns="0" rtlCol="0" anchor="t"/>
          <a:lstStyle/>
          <a:p>
            <a:pPr marL="0" indent="0">
              <a:buNone/>
            </a:pPr>
            <a:r>
              <a:rPr lang="en-US" altLang="en-US" sz="2300" b="1" dirty="0">
                <a:solidFill>
                  <a:srgbClr val="102A43"/>
                </a:solidFill>
                <a:latin typeface="Segoe UI" pitchFamily="34" charset="0"/>
                <a:ea typeface="Segoe UI" pitchFamily="34" charset="-122"/>
                <a:cs typeface="Segoe UI" pitchFamily="34" charset="-120"/>
              </a:rPr>
              <a:t>Confirm readiness and applicability</a:t>
            </a:r>
            <a:endParaRPr lang="en-US" sz="2300" dirty="0"/>
          </a:p>
        </p:txBody>
      </p:sp>
      <p:sp>
        <p:nvSpPr>
          <p:cNvPr id="8" name="Text 6"/>
          <p:cNvSpPr/>
          <p:nvPr/>
        </p:nvSpPr>
        <p:spPr>
          <a:xfrm>
            <a:off x="6949440" y="2852928"/>
            <a:ext cx="4443984" cy="685800"/>
          </a:xfrm>
          <a:prstGeom prst="rect">
            <a:avLst/>
          </a:prstGeom>
          <a:noFill/>
          <a:ln/>
        </p:spPr>
        <p:txBody>
          <a:bodyPr wrap="square" lIns="0" tIns="0" rIns="0" bIns="0" rtlCol="0" anchor="t"/>
          <a:lstStyle/>
          <a:p>
            <a:pPr marL="0" indent="0">
              <a:buNone/>
            </a:pPr>
            <a:r>
              <a:rPr lang="en-US" altLang="en-US" sz="2000" dirty="0">
                <a:solidFill>
                  <a:srgbClr val="526779"/>
                </a:solidFill>
                <a:latin typeface="Segoe UI" pitchFamily="34" charset="0"/>
                <a:ea typeface="Segoe UI" pitchFamily="34" charset="-122"/>
                <a:cs typeface="Segoe UI" pitchFamily="34" charset="-120"/>
              </a:rPr>
              <a:t>Use the approved event modifier catalog.</a:t>
            </a:r>
            <a:endParaRPr lang="en-US" sz="2000" dirty="0"/>
          </a:p>
        </p:txBody>
      </p:sp>
      <p:sp>
        <p:nvSpPr>
          <p:cNvPr id="9" name="Shape 7"/>
          <p:cNvSpPr/>
          <p:nvPr/>
        </p:nvSpPr>
        <p:spPr>
          <a:xfrm>
            <a:off x="585216" y="3712464"/>
            <a:ext cx="10991088" cy="859536"/>
          </a:xfrm>
          <a:prstGeom prst="roundRect">
            <a:avLst>
              <a:gd name="adj" fmla="val 12766"/>
            </a:avLst>
          </a:prstGeom>
          <a:solidFill>
            <a:srgbClr val="E5EEEB"/>
          </a:solidFill>
          <a:ln w="8890">
            <a:solidFill>
              <a:srgbClr val="D4DDD9"/>
            </a:solidFill>
            <a:prstDash val="solid"/>
          </a:ln>
        </p:spPr>
      </p:sp>
      <p:sp>
        <p:nvSpPr>
          <p:cNvPr id="10" name="Text 8"/>
          <p:cNvSpPr/>
          <p:nvPr/>
        </p:nvSpPr>
        <p:spPr>
          <a:xfrm>
            <a:off x="740664" y="3895344"/>
            <a:ext cx="1371600" cy="384048"/>
          </a:xfrm>
          <a:prstGeom prst="rect">
            <a:avLst/>
          </a:prstGeom>
          <a:noFill/>
          <a:ln/>
        </p:spPr>
        <p:txBody>
          <a:bodyPr wrap="square" lIns="0" tIns="0" rIns="0" bIns="0" rtlCol="0" anchor="t"/>
          <a:lstStyle/>
          <a:p>
            <a:pPr marL="0" indent="0">
              <a:buNone/>
            </a:pPr>
            <a:r>
              <a:rPr lang="en-US" altLang="en-US" sz="1600" b="1" dirty="0">
                <a:solidFill>
                  <a:srgbClr val="0F766E"/>
                </a:solidFill>
                <a:latin typeface="Segoe UI" pitchFamily="34" charset="0"/>
                <a:ea typeface="Segoe UI" pitchFamily="34" charset="-122"/>
                <a:cs typeface="Segoe UI" pitchFamily="34" charset="-120"/>
              </a:rPr>
              <a:t>ANNOUNCE</a:t>
            </a:r>
            <a:endParaRPr lang="en-US" sz="1600" dirty="0"/>
          </a:p>
        </p:txBody>
      </p:sp>
      <p:sp>
        <p:nvSpPr>
          <p:cNvPr id="11" name="Text 9"/>
          <p:cNvSpPr/>
          <p:nvPr/>
        </p:nvSpPr>
        <p:spPr>
          <a:xfrm>
            <a:off x="2231136" y="3776472"/>
            <a:ext cx="4526280" cy="731520"/>
          </a:xfrm>
          <a:prstGeom prst="rect">
            <a:avLst/>
          </a:prstGeom>
          <a:noFill/>
          <a:ln/>
        </p:spPr>
        <p:txBody>
          <a:bodyPr wrap="square" lIns="0" tIns="0" rIns="0" bIns="0" rtlCol="0" anchor="t"/>
          <a:lstStyle/>
          <a:p>
            <a:pPr marL="0" indent="0">
              <a:buNone/>
            </a:pPr>
            <a:r>
              <a:rPr lang="en-US" altLang="en-US" sz="2300" b="1" dirty="0">
                <a:solidFill>
                  <a:srgbClr val="102A43"/>
                </a:solidFill>
                <a:latin typeface="Segoe UI" pitchFamily="34" charset="0"/>
                <a:ea typeface="Segoe UI" pitchFamily="34" charset="-122"/>
                <a:cs typeface="Segoe UI" pitchFamily="34" charset="-120"/>
              </a:rPr>
              <a:t>Make the changed condition visible</a:t>
            </a:r>
            <a:endParaRPr lang="en-US" sz="2300" dirty="0"/>
          </a:p>
        </p:txBody>
      </p:sp>
      <p:sp>
        <p:nvSpPr>
          <p:cNvPr id="12" name="Text 10"/>
          <p:cNvSpPr/>
          <p:nvPr/>
        </p:nvSpPr>
        <p:spPr>
          <a:xfrm>
            <a:off x="6949440" y="3813048"/>
            <a:ext cx="4443984" cy="685800"/>
          </a:xfrm>
          <a:prstGeom prst="rect">
            <a:avLst/>
          </a:prstGeom>
          <a:noFill/>
          <a:ln/>
        </p:spPr>
        <p:txBody>
          <a:bodyPr wrap="square" lIns="0" tIns="0" rIns="0" bIns="0" rtlCol="0" anchor="t"/>
          <a:lstStyle/>
          <a:p>
            <a:pPr marL="0" indent="0">
              <a:buNone/>
            </a:pPr>
            <a:r>
              <a:rPr lang="en-US" altLang="en-US" sz="2000" dirty="0">
                <a:solidFill>
                  <a:srgbClr val="526779"/>
                </a:solidFill>
                <a:latin typeface="Segoe UI" pitchFamily="34" charset="0"/>
                <a:ea typeface="Segoe UI" pitchFamily="34" charset="-122"/>
                <a:cs typeface="Segoe UI" pitchFamily="34" charset="-120"/>
              </a:rPr>
              <a:t>State who is affected and what remains unchanged.</a:t>
            </a:r>
            <a:endParaRPr lang="en-US" sz="2000" dirty="0"/>
          </a:p>
        </p:txBody>
      </p:sp>
      <p:sp>
        <p:nvSpPr>
          <p:cNvPr id="13" name="Shape 11"/>
          <p:cNvSpPr/>
          <p:nvPr/>
        </p:nvSpPr>
        <p:spPr>
          <a:xfrm>
            <a:off x="585216" y="4672584"/>
            <a:ext cx="10991088" cy="859536"/>
          </a:xfrm>
          <a:prstGeom prst="roundRect">
            <a:avLst>
              <a:gd name="adj" fmla="val 12766"/>
            </a:avLst>
          </a:prstGeom>
          <a:solidFill>
            <a:srgbClr val="FFFFFF"/>
          </a:solidFill>
          <a:ln w="8890">
            <a:solidFill>
              <a:srgbClr val="D4DDD9"/>
            </a:solidFill>
            <a:prstDash val="solid"/>
          </a:ln>
        </p:spPr>
      </p:sp>
      <p:sp>
        <p:nvSpPr>
          <p:cNvPr id="14" name="Text 12"/>
          <p:cNvSpPr/>
          <p:nvPr/>
        </p:nvSpPr>
        <p:spPr>
          <a:xfrm>
            <a:off x="740664" y="4855464"/>
            <a:ext cx="1371600" cy="384048"/>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RECOVER</a:t>
            </a:r>
            <a:endParaRPr lang="en-US" sz="1800" dirty="0"/>
          </a:p>
        </p:txBody>
      </p:sp>
      <p:sp>
        <p:nvSpPr>
          <p:cNvPr id="15" name="Text 13"/>
          <p:cNvSpPr/>
          <p:nvPr/>
        </p:nvSpPr>
        <p:spPr>
          <a:xfrm>
            <a:off x="2231136" y="4736592"/>
            <a:ext cx="4526280" cy="731520"/>
          </a:xfrm>
          <a:prstGeom prst="rect">
            <a:avLst/>
          </a:prstGeom>
          <a:noFill/>
          <a:ln/>
        </p:spPr>
        <p:txBody>
          <a:bodyPr wrap="square" lIns="0" tIns="0" rIns="0" bIns="0" rtlCol="0" anchor="t"/>
          <a:lstStyle/>
          <a:p>
            <a:pPr marL="0" indent="0">
              <a:buNone/>
            </a:pPr>
            <a:r>
              <a:rPr lang="en-US" altLang="en-US" sz="2300" b="1" dirty="0">
                <a:solidFill>
                  <a:srgbClr val="102A43"/>
                </a:solidFill>
                <a:latin typeface="Segoe UI" pitchFamily="34" charset="0"/>
                <a:ea typeface="Segoe UI" pitchFamily="34" charset="-122"/>
                <a:cs typeface="Segoe UI" pitchFamily="34" charset="-120"/>
              </a:rPr>
              <a:t>Preserve evidence and reset options</a:t>
            </a:r>
            <a:endParaRPr lang="en-US" sz="2300" dirty="0"/>
          </a:p>
        </p:txBody>
      </p:sp>
      <p:sp>
        <p:nvSpPr>
          <p:cNvPr id="16" name="Text 14"/>
          <p:cNvSpPr/>
          <p:nvPr/>
        </p:nvSpPr>
        <p:spPr>
          <a:xfrm>
            <a:off x="6949440" y="4773168"/>
            <a:ext cx="4443984" cy="685800"/>
          </a:xfrm>
          <a:prstGeom prst="rect">
            <a:avLst/>
          </a:prstGeom>
          <a:noFill/>
          <a:ln/>
        </p:spPr>
        <p:txBody>
          <a:bodyPr wrap="square" lIns="0" tIns="0" rIns="0" bIns="0" rtlCol="0" anchor="t"/>
          <a:lstStyle/>
          <a:p>
            <a:pPr marL="0" indent="0">
              <a:buNone/>
            </a:pPr>
            <a:r>
              <a:rPr lang="en-US" altLang="en-US" sz="2000" dirty="0">
                <a:solidFill>
                  <a:srgbClr val="526779"/>
                </a:solidFill>
                <a:latin typeface="Segoe UI" pitchFamily="34" charset="0"/>
                <a:ea typeface="Segoe UI" pitchFamily="34" charset="-122"/>
                <a:cs typeface="Segoe UI" pitchFamily="34" charset="-120"/>
              </a:rPr>
              <a:t>Re-plan deliberately; do not surprise-score the room.</a:t>
            </a:r>
            <a:endParaRPr lang="en-US" sz="2000" dirty="0"/>
          </a:p>
        </p:txBody>
      </p:sp>
      <p:sp>
        <p:nvSpPr>
          <p:cNvPr id="17" name="Shape 15"/>
          <p:cNvSpPr/>
          <p:nvPr/>
        </p:nvSpPr>
        <p:spPr>
          <a:xfrm>
            <a:off x="585216" y="5824728"/>
            <a:ext cx="10991088" cy="502920"/>
          </a:xfrm>
          <a:prstGeom prst="rect">
            <a:avLst/>
          </a:prstGeom>
          <a:solidFill>
            <a:srgbClr val="E5EEEB"/>
          </a:solidFill>
          <a:ln w="8890">
            <a:solidFill>
              <a:srgbClr val="E5EEEB"/>
            </a:solidFill>
            <a:prstDash val="solid"/>
          </a:ln>
        </p:spPr>
      </p:sp>
      <p:sp>
        <p:nvSpPr>
          <p:cNvPr id="18" name="Text 16"/>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Not activating a modifier can be the correct facilitation decision.</a:t>
            </a:r>
            <a:endParaRPr lang="en-US" sz="1850" dirty="0"/>
          </a:p>
        </p:txBody>
      </p:sp>
      <p:sp>
        <p:nvSpPr>
          <p:cNvPr id="19" name="Text 17"/>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FACILITATOR ONLY / DO NOT PROJECT</a:t>
            </a:r>
            <a:endParaRPr lang="en-US" sz="1050" dirty="0"/>
          </a:p>
        </p:txBody>
      </p:sp>
      <p:sp>
        <p:nvSpPr>
          <p:cNvPr id="20" name="Text 18">
            <a:hlinkClick r:id="rId3" action="ppaction://hlinksldjump" tooltip="Go to the facilitator index"/>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facilitator index">
                  <a:extLst>
                    <a:ext uri="{A12FA001-AC4F-418D-AE19-62706E023703}">
                      <ahyp:hlinkClr xmlns:ahyp="http://schemas.microsoft.com/office/drawing/2018/hyperlinkcolor" val="tx"/>
                    </a:ext>
                  </a:extLst>
                </a:hlinkClick>
              </a:rPr>
              <a:t>INDEX</a:t>
            </a:r>
            <a:endParaRPr lang="en-US" sz="1100" dirty="0"/>
          </a:p>
        </p:txBody>
      </p:sp>
      <p:sp>
        <p:nvSpPr>
          <p:cNvPr id="21" name="Text 19"/>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I13 / 18</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FACILITATOR FIELD GUIDE</a:t>
            </a:r>
            <a:endParaRPr lang="en-US" sz="1150" dirty="0"/>
          </a:p>
        </p:txBody>
      </p:sp>
      <p:sp>
        <p:nvSpPr>
          <p:cNvPr id="3" name="I14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Recover a failed demonstration</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Use an honest fallback, not a success-shaped story.</a:t>
            </a:r>
            <a:endParaRPr lang="en-US" sz="2400" dirty="0"/>
          </a:p>
        </p:txBody>
      </p:sp>
      <p:sp>
        <p:nvSpPr>
          <p:cNvPr id="5" name="Shape 3"/>
          <p:cNvSpPr/>
          <p:nvPr/>
        </p:nvSpPr>
        <p:spPr>
          <a:xfrm>
            <a:off x="585216" y="2679192"/>
            <a:ext cx="5303520" cy="2834640"/>
          </a:xfrm>
          <a:prstGeom prst="roundRect">
            <a:avLst>
              <a:gd name="adj" fmla="val 3871"/>
            </a:avLst>
          </a:prstGeom>
          <a:solidFill>
            <a:srgbClr val="FFFFFF"/>
          </a:solidFill>
          <a:ln w="8890">
            <a:solidFill>
              <a:srgbClr val="D4DDD9"/>
            </a:solidFill>
            <a:prstDash val="solid"/>
          </a:ln>
        </p:spPr>
      </p:sp>
      <p:sp>
        <p:nvSpPr>
          <p:cNvPr id="6" name="Text 4"/>
          <p:cNvSpPr/>
          <p:nvPr/>
        </p:nvSpPr>
        <p:spPr>
          <a:xfrm>
            <a:off x="813816" y="2889504"/>
            <a:ext cx="4846320" cy="374904"/>
          </a:xfrm>
          <a:prstGeom prst="rect">
            <a:avLst/>
          </a:prstGeom>
          <a:noFill/>
          <a:ln/>
        </p:spPr>
        <p:txBody>
          <a:bodyPr wrap="square" lIns="0" tIns="0" rIns="0" bIns="0" rtlCol="0" anchor="t"/>
          <a:lstStyle/>
          <a:p>
            <a:pPr marL="0" indent="0">
              <a:buNone/>
            </a:pPr>
            <a:r>
              <a:rPr lang="en-US" altLang="en-US" sz="1750" b="1" dirty="0">
                <a:solidFill>
                  <a:srgbClr val="0F766E"/>
                </a:solidFill>
                <a:latin typeface="Segoe UI" pitchFamily="34" charset="0"/>
                <a:ea typeface="Segoe UI" pitchFamily="34" charset="-122"/>
                <a:cs typeface="Segoe UI" pitchFamily="34" charset="-120"/>
              </a:rPr>
              <a:t>LIVE DEMO FAILS</a:t>
            </a:r>
            <a:endParaRPr lang="en-US" sz="1750" dirty="0"/>
          </a:p>
        </p:txBody>
      </p:sp>
      <p:sp>
        <p:nvSpPr>
          <p:cNvPr id="7" name="Text 5"/>
          <p:cNvSpPr/>
          <p:nvPr/>
        </p:nvSpPr>
        <p:spPr>
          <a:xfrm>
            <a:off x="813816" y="3438144"/>
            <a:ext cx="4846320" cy="1517904"/>
          </a:xfrm>
          <a:prstGeom prst="rect">
            <a:avLst/>
          </a:prstGeom>
          <a:noFill/>
          <a:ln/>
        </p:spPr>
        <p:txBody>
          <a:bodyPr wrap="square" lIns="0" tIns="0" rIns="0" bIns="0" rtlCol="0" anchor="t"/>
          <a:lstStyle/>
          <a:p>
            <a:pPr marL="0" indent="0">
              <a:buNone/>
            </a:pPr>
            <a:r>
              <a:rPr lang="en-US" altLang="en-US" sz="2400" dirty="0">
                <a:solidFill>
                  <a:srgbClr val="102A43"/>
                </a:solidFill>
                <a:latin typeface="Segoe UI" pitchFamily="34" charset="0"/>
                <a:ea typeface="Segoe UI" pitchFamily="34" charset="-122"/>
                <a:cs typeface="Segoe UI" pitchFamily="34" charset="-120"/>
              </a:rPr>
              <a:t>Name the failure.</a:t>
            </a:r>
            <a:endParaRPr lang="en-US" sz="2400" dirty="0"/>
          </a:p>
          <a:p>
            <a:pPr marL="0" indent="0">
              <a:buNone/>
            </a:pPr>
            <a:r>
              <a:rPr lang="en-US" altLang="en-US" sz="2400" dirty="0">
                <a:solidFill>
                  <a:srgbClr val="102A43"/>
                </a:solidFill>
                <a:latin typeface="Segoe UI" pitchFamily="34" charset="0"/>
                <a:ea typeface="Segoe UI" pitchFamily="34" charset="-122"/>
                <a:cs typeface="Segoe UI" pitchFamily="34" charset="-120"/>
              </a:rPr>
              <a:t>Set a diagnosis time limit.</a:t>
            </a:r>
            <a:endParaRPr lang="en-US" sz="2400" dirty="0"/>
          </a:p>
          <a:p>
            <a:pPr marL="0" indent="0">
              <a:buNone/>
            </a:pPr>
            <a:r>
              <a:rPr lang="en-US" altLang="en-US" sz="2400" dirty="0">
                <a:solidFill>
                  <a:srgbClr val="102A43"/>
                </a:solidFill>
                <a:latin typeface="Segoe UI" pitchFamily="34" charset="0"/>
                <a:ea typeface="Segoe UI" pitchFamily="34" charset="-122"/>
                <a:cs typeface="Segoe UI" pitchFamily="34" charset="-120"/>
              </a:rPr>
              <a:t>Protect workshop time.</a:t>
            </a:r>
            <a:endParaRPr lang="en-US" sz="2400" dirty="0"/>
          </a:p>
        </p:txBody>
      </p:sp>
      <p:sp>
        <p:nvSpPr>
          <p:cNvPr id="8" name="Text 6"/>
          <p:cNvSpPr/>
          <p:nvPr/>
        </p:nvSpPr>
        <p:spPr>
          <a:xfrm>
            <a:off x="813816" y="5129784"/>
            <a:ext cx="4846320" cy="329184"/>
          </a:xfrm>
          <a:prstGeom prst="rect">
            <a:avLst/>
          </a:prstGeom>
          <a:noFill/>
          <a:ln/>
        </p:spPr>
        <p:txBody>
          <a:bodyPr wrap="square" lIns="0" tIns="0" rIns="0" bIns="0" rtlCol="0" anchor="t"/>
          <a:lstStyle/>
          <a:p>
            <a:pPr marL="0" indent="0">
              <a:buNone/>
            </a:pPr>
            <a:r>
              <a:rPr lang="en-US" altLang="en-US" sz="1650" dirty="0">
                <a:solidFill>
                  <a:srgbClr val="526779"/>
                </a:solidFill>
                <a:latin typeface="Segoe UI" pitchFamily="34" charset="0"/>
                <a:ea typeface="Segoe UI" pitchFamily="34" charset="-122"/>
                <a:cs typeface="Segoe UI" pitchFamily="34" charset="-120"/>
              </a:rPr>
              <a:t>Do not troubleshoot indefinitely on stage.</a:t>
            </a:r>
            <a:endParaRPr lang="en-US" sz="1650" dirty="0"/>
          </a:p>
        </p:txBody>
      </p:sp>
      <p:sp>
        <p:nvSpPr>
          <p:cNvPr id="9" name="Shape 7"/>
          <p:cNvSpPr/>
          <p:nvPr/>
        </p:nvSpPr>
        <p:spPr>
          <a:xfrm>
            <a:off x="6272784" y="2679192"/>
            <a:ext cx="5303520" cy="2834640"/>
          </a:xfrm>
          <a:prstGeom prst="roundRect">
            <a:avLst>
              <a:gd name="adj" fmla="val 3871"/>
            </a:avLst>
          </a:prstGeom>
          <a:solidFill>
            <a:srgbClr val="102A43"/>
          </a:solidFill>
          <a:ln w="8890">
            <a:solidFill>
              <a:srgbClr val="102A43"/>
            </a:solidFill>
            <a:prstDash val="solid"/>
          </a:ln>
        </p:spPr>
      </p:sp>
      <p:sp>
        <p:nvSpPr>
          <p:cNvPr id="10" name="Text 8"/>
          <p:cNvSpPr/>
          <p:nvPr/>
        </p:nvSpPr>
        <p:spPr>
          <a:xfrm>
            <a:off x="6501384" y="2889504"/>
            <a:ext cx="4846320" cy="374904"/>
          </a:xfrm>
          <a:prstGeom prst="rect">
            <a:avLst/>
          </a:prstGeom>
          <a:noFill/>
          <a:ln/>
        </p:spPr>
        <p:txBody>
          <a:bodyPr wrap="square" lIns="0" tIns="0" rIns="0" bIns="0" rtlCol="0" anchor="t"/>
          <a:lstStyle/>
          <a:p>
            <a:pPr marL="0" indent="0">
              <a:buNone/>
            </a:pPr>
            <a:r>
              <a:rPr lang="en-US" altLang="en-US" sz="1750" b="1" dirty="0">
                <a:solidFill>
                  <a:srgbClr val="5EEAD4"/>
                </a:solidFill>
                <a:latin typeface="Segoe UI" pitchFamily="34" charset="0"/>
                <a:ea typeface="Segoe UI" pitchFamily="34" charset="-122"/>
                <a:cs typeface="Segoe UI" pitchFamily="34" charset="-120"/>
              </a:rPr>
              <a:t>PREPARED FALLBACK</a:t>
            </a:r>
            <a:endParaRPr lang="en-US" sz="1750" dirty="0"/>
          </a:p>
        </p:txBody>
      </p:sp>
      <p:sp>
        <p:nvSpPr>
          <p:cNvPr id="11" name="Text 9"/>
          <p:cNvSpPr/>
          <p:nvPr/>
        </p:nvSpPr>
        <p:spPr>
          <a:xfrm>
            <a:off x="6501384" y="3438144"/>
            <a:ext cx="4846320" cy="1517904"/>
          </a:xfrm>
          <a:prstGeom prst="rect">
            <a:avLst/>
          </a:prstGeom>
          <a:noFill/>
          <a:ln/>
        </p:spPr>
        <p:txBody>
          <a:bodyPr wrap="square" lIns="0" tIns="0" rIns="0" bIns="0" rtlCol="0" anchor="t"/>
          <a:lstStyle/>
          <a:p>
            <a:pPr marL="0" indent="0">
              <a:buNone/>
            </a:pPr>
            <a:r>
              <a:rPr lang="en-US" altLang="en-US" sz="2400" dirty="0">
                <a:solidFill>
                  <a:srgbClr val="FFFFFF"/>
                </a:solidFill>
                <a:latin typeface="Segoe UI" pitchFamily="34" charset="0"/>
                <a:ea typeface="Segoe UI" pitchFamily="34" charset="-122"/>
                <a:cs typeface="Segoe UI" pitchFamily="34" charset="-120"/>
              </a:rPr>
              <a:t>Show the labeled fixture.</a:t>
            </a:r>
            <a:endParaRPr lang="en-US" sz="2400" dirty="0"/>
          </a:p>
          <a:p>
            <a:pPr marL="0" indent="0">
              <a:buNone/>
            </a:pPr>
            <a:r>
              <a:rPr lang="en-US" altLang="en-US" sz="2400" dirty="0">
                <a:solidFill>
                  <a:srgbClr val="FFFFFF"/>
                </a:solidFill>
                <a:latin typeface="Segoe UI" pitchFamily="34" charset="0"/>
                <a:ea typeface="Segoe UI" pitchFamily="34" charset="-122"/>
                <a:cs typeface="Segoe UI" pitchFamily="34" charset="-120"/>
              </a:rPr>
              <a:t>Explain what it illustrates.</a:t>
            </a:r>
            <a:endParaRPr lang="en-US" sz="2400" dirty="0"/>
          </a:p>
          <a:p>
            <a:pPr marL="0" indent="0">
              <a:buNone/>
            </a:pPr>
            <a:r>
              <a:rPr lang="en-US" altLang="en-US" sz="2400" dirty="0">
                <a:solidFill>
                  <a:srgbClr val="FFFFFF"/>
                </a:solidFill>
                <a:latin typeface="Segoe UI" pitchFamily="34" charset="0"/>
                <a:ea typeface="Segoe UI" pitchFamily="34" charset="-122"/>
                <a:cs typeface="Segoe UI" pitchFamily="34" charset="-120"/>
              </a:rPr>
              <a:t>Return to the learning point.</a:t>
            </a:r>
            <a:endParaRPr lang="en-US" sz="2400" dirty="0"/>
          </a:p>
        </p:txBody>
      </p:sp>
      <p:sp>
        <p:nvSpPr>
          <p:cNvPr id="12" name="Text 10"/>
          <p:cNvSpPr/>
          <p:nvPr/>
        </p:nvSpPr>
        <p:spPr>
          <a:xfrm>
            <a:off x="6501384" y="5129784"/>
            <a:ext cx="4846320" cy="329184"/>
          </a:xfrm>
          <a:prstGeom prst="rect">
            <a:avLst/>
          </a:prstGeom>
          <a:noFill/>
          <a:ln/>
        </p:spPr>
        <p:txBody>
          <a:bodyPr wrap="square" lIns="0" tIns="0" rIns="0" bIns="0" rtlCol="0" anchor="t"/>
          <a:lstStyle/>
          <a:p>
            <a:pPr marL="0" indent="0">
              <a:buNone/>
            </a:pPr>
            <a:r>
              <a:rPr lang="en-US" altLang="en-US" sz="1650" dirty="0">
                <a:solidFill>
                  <a:srgbClr val="C9D8E2"/>
                </a:solidFill>
                <a:latin typeface="Segoe UI" pitchFamily="34" charset="0"/>
                <a:ea typeface="Segoe UI" pitchFamily="34" charset="-122"/>
                <a:cs typeface="Segoe UI" pitchFamily="34" charset="-120"/>
              </a:rPr>
              <a:t>A snapshot is not live validated work.</a:t>
            </a:r>
            <a:endParaRPr lang="en-US" sz="1650" dirty="0"/>
          </a:p>
        </p:txBody>
      </p:sp>
      <p:sp>
        <p:nvSpPr>
          <p:cNvPr id="13" name="Shape 11"/>
          <p:cNvSpPr/>
          <p:nvPr/>
        </p:nvSpPr>
        <p:spPr>
          <a:xfrm>
            <a:off x="585216" y="5824728"/>
            <a:ext cx="10991088" cy="502920"/>
          </a:xfrm>
          <a:prstGeom prst="rect">
            <a:avLst/>
          </a:prstGeom>
          <a:solidFill>
            <a:srgbClr val="E5EEEB"/>
          </a:solidFill>
          <a:ln w="8890">
            <a:solidFill>
              <a:srgbClr val="E5EEEB"/>
            </a:solidFill>
            <a:prstDash val="solid"/>
          </a:ln>
        </p:spPr>
      </p:sp>
      <p:sp>
        <p:nvSpPr>
          <p:cNvPr id="14" name="Text 12"/>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Return to the public slide named in the demo cue.</a:t>
            </a:r>
            <a:endParaRPr lang="en-US" sz="1850" dirty="0"/>
          </a:p>
        </p:txBody>
      </p:sp>
      <p:sp>
        <p:nvSpPr>
          <p:cNvPr id="15" name="Text 13"/>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FACILITATOR ONLY / DO NOT PROJECT</a:t>
            </a:r>
            <a:endParaRPr lang="en-US" sz="1050" dirty="0"/>
          </a:p>
        </p:txBody>
      </p:sp>
      <p:sp>
        <p:nvSpPr>
          <p:cNvPr id="16" name="Text 14">
            <a:hlinkClick r:id="rId3" action="ppaction://hlinksldjump" tooltip="Go to the facilitator index"/>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facilitator index">
                  <a:extLst>
                    <a:ext uri="{A12FA001-AC4F-418D-AE19-62706E023703}">
                      <ahyp:hlinkClr xmlns:ahyp="http://schemas.microsoft.com/office/drawing/2018/hyperlinkcolor" val="tx"/>
                    </a:ext>
                  </a:extLst>
                </a:hlinkClick>
              </a:rPr>
              <a:t>INDEX</a:t>
            </a:r>
            <a:endParaRPr lang="en-US" sz="1100" dirty="0"/>
          </a:p>
        </p:txBody>
      </p:sp>
      <p:sp>
        <p:nvSpPr>
          <p:cNvPr id="17" name="Text 15"/>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I14 / 18</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FACILITATOR FIELD GUIDE</a:t>
            </a:r>
            <a:endParaRPr lang="en-US" sz="1150" dirty="0"/>
          </a:p>
        </p:txBody>
      </p:sp>
      <p:sp>
        <p:nvSpPr>
          <p:cNvPr id="3" name="I15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Recover the schedule</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Recover time without removing the engineering lesson.</a:t>
            </a:r>
            <a:endParaRPr lang="en-US" sz="2400" dirty="0"/>
          </a:p>
        </p:txBody>
      </p:sp>
      <p:sp>
        <p:nvSpPr>
          <p:cNvPr id="5" name="Shape 3"/>
          <p:cNvSpPr/>
          <p:nvPr/>
        </p:nvSpPr>
        <p:spPr>
          <a:xfrm>
            <a:off x="585216" y="2752344"/>
            <a:ext cx="10991088" cy="859536"/>
          </a:xfrm>
          <a:prstGeom prst="roundRect">
            <a:avLst>
              <a:gd name="adj" fmla="val 12766"/>
            </a:avLst>
          </a:prstGeom>
          <a:solidFill>
            <a:srgbClr val="FFFFFF"/>
          </a:solidFill>
          <a:ln w="8890">
            <a:solidFill>
              <a:srgbClr val="D4DDD9"/>
            </a:solidFill>
            <a:prstDash val="solid"/>
          </a:ln>
        </p:spPr>
      </p:sp>
      <p:sp>
        <p:nvSpPr>
          <p:cNvPr id="6" name="Text 4"/>
          <p:cNvSpPr/>
          <p:nvPr/>
        </p:nvSpPr>
        <p:spPr>
          <a:xfrm>
            <a:off x="740664" y="2935224"/>
            <a:ext cx="1371600" cy="384048"/>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FIRST</a:t>
            </a:r>
            <a:endParaRPr lang="en-US" sz="1800" dirty="0"/>
          </a:p>
        </p:txBody>
      </p:sp>
      <p:sp>
        <p:nvSpPr>
          <p:cNvPr id="7" name="Text 5"/>
          <p:cNvSpPr/>
          <p:nvPr/>
        </p:nvSpPr>
        <p:spPr>
          <a:xfrm>
            <a:off x="2231136" y="2816352"/>
            <a:ext cx="4526280" cy="731520"/>
          </a:xfrm>
          <a:prstGeom prst="rect">
            <a:avLst/>
          </a:prstGeom>
          <a:noFill/>
          <a:ln/>
        </p:spPr>
        <p:txBody>
          <a:bodyPr wrap="square" lIns="0" tIns="0" rIns="0" bIns="0" rtlCol="0" anchor="t"/>
          <a:lstStyle/>
          <a:p>
            <a:pPr marL="0" indent="0">
              <a:buNone/>
            </a:pPr>
            <a:r>
              <a:rPr lang="en-US" altLang="en-US" sz="2300" b="1" dirty="0">
                <a:solidFill>
                  <a:srgbClr val="102A43"/>
                </a:solidFill>
                <a:latin typeface="Segoe UI" pitchFamily="34" charset="0"/>
                <a:ea typeface="Segoe UI" pitchFamily="34" charset="-122"/>
                <a:cs typeface="Segoe UI" pitchFamily="34" charset="-120"/>
              </a:rPr>
              <a:t>Shorten optional exposition</a:t>
            </a:r>
            <a:endParaRPr lang="en-US" sz="2300" dirty="0"/>
          </a:p>
        </p:txBody>
      </p:sp>
      <p:sp>
        <p:nvSpPr>
          <p:cNvPr id="8" name="Text 6"/>
          <p:cNvSpPr/>
          <p:nvPr/>
        </p:nvSpPr>
        <p:spPr>
          <a:xfrm>
            <a:off x="6949440" y="2852928"/>
            <a:ext cx="4443984" cy="685800"/>
          </a:xfrm>
          <a:prstGeom prst="rect">
            <a:avLst/>
          </a:prstGeom>
          <a:noFill/>
          <a:ln/>
        </p:spPr>
        <p:txBody>
          <a:bodyPr wrap="square" lIns="0" tIns="0" rIns="0" bIns="0" rtlCol="0" anchor="t"/>
          <a:lstStyle/>
          <a:p>
            <a:pPr marL="0" indent="0">
              <a:buNone/>
            </a:pPr>
            <a:r>
              <a:rPr lang="en-US" altLang="en-US" sz="2000" dirty="0">
                <a:solidFill>
                  <a:srgbClr val="526779"/>
                </a:solidFill>
                <a:latin typeface="Segoe UI" pitchFamily="34" charset="0"/>
                <a:ea typeface="Segoe UI" pitchFamily="34" charset="-122"/>
                <a:cs typeface="Segoe UI" pitchFamily="34" charset="-120"/>
              </a:rPr>
              <a:t>Use one example rather than three.</a:t>
            </a:r>
            <a:endParaRPr lang="en-US" sz="2000" dirty="0"/>
          </a:p>
        </p:txBody>
      </p:sp>
      <p:sp>
        <p:nvSpPr>
          <p:cNvPr id="9" name="Shape 7"/>
          <p:cNvSpPr/>
          <p:nvPr/>
        </p:nvSpPr>
        <p:spPr>
          <a:xfrm>
            <a:off x="585216" y="3712464"/>
            <a:ext cx="10991088" cy="859536"/>
          </a:xfrm>
          <a:prstGeom prst="roundRect">
            <a:avLst>
              <a:gd name="adj" fmla="val 12766"/>
            </a:avLst>
          </a:prstGeom>
          <a:solidFill>
            <a:srgbClr val="E5EEEB"/>
          </a:solidFill>
          <a:ln w="8890">
            <a:solidFill>
              <a:srgbClr val="D4DDD9"/>
            </a:solidFill>
            <a:prstDash val="solid"/>
          </a:ln>
        </p:spPr>
      </p:sp>
      <p:sp>
        <p:nvSpPr>
          <p:cNvPr id="10" name="Text 8"/>
          <p:cNvSpPr/>
          <p:nvPr/>
        </p:nvSpPr>
        <p:spPr>
          <a:xfrm>
            <a:off x="740664" y="3895344"/>
            <a:ext cx="1371600" cy="384048"/>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NEXT</a:t>
            </a:r>
            <a:endParaRPr lang="en-US" sz="1800" dirty="0"/>
          </a:p>
        </p:txBody>
      </p:sp>
      <p:sp>
        <p:nvSpPr>
          <p:cNvPr id="11" name="Text 9"/>
          <p:cNvSpPr/>
          <p:nvPr/>
        </p:nvSpPr>
        <p:spPr>
          <a:xfrm>
            <a:off x="2231136" y="3776472"/>
            <a:ext cx="4526280" cy="731520"/>
          </a:xfrm>
          <a:prstGeom prst="rect">
            <a:avLst/>
          </a:prstGeom>
          <a:noFill/>
          <a:ln/>
        </p:spPr>
        <p:txBody>
          <a:bodyPr wrap="square" lIns="0" tIns="0" rIns="0" bIns="0" rtlCol="0" anchor="t"/>
          <a:lstStyle/>
          <a:p>
            <a:pPr marL="0" indent="0">
              <a:buNone/>
            </a:pPr>
            <a:r>
              <a:rPr lang="en-US" altLang="en-US" sz="2300" b="1" dirty="0">
                <a:solidFill>
                  <a:srgbClr val="102A43"/>
                </a:solidFill>
                <a:latin typeface="Segoe UI" pitchFamily="34" charset="0"/>
                <a:ea typeface="Segoe UI" pitchFamily="34" charset="-122"/>
                <a:cs typeface="Segoe UI" pitchFamily="34" charset="-120"/>
              </a:rPr>
              <a:t>Reduce advanced branches</a:t>
            </a:r>
            <a:endParaRPr lang="en-US" sz="2300" dirty="0"/>
          </a:p>
        </p:txBody>
      </p:sp>
      <p:sp>
        <p:nvSpPr>
          <p:cNvPr id="12" name="Text 10"/>
          <p:cNvSpPr/>
          <p:nvPr/>
        </p:nvSpPr>
        <p:spPr>
          <a:xfrm>
            <a:off x="6949440" y="3813048"/>
            <a:ext cx="4443984" cy="685800"/>
          </a:xfrm>
          <a:prstGeom prst="rect">
            <a:avLst/>
          </a:prstGeom>
          <a:noFill/>
          <a:ln/>
        </p:spPr>
        <p:txBody>
          <a:bodyPr wrap="square" lIns="0" tIns="0" rIns="0" bIns="0" rtlCol="0" anchor="t"/>
          <a:lstStyle/>
          <a:p>
            <a:pPr marL="0" indent="0">
              <a:buNone/>
            </a:pPr>
            <a:r>
              <a:rPr lang="en-US" altLang="en-US" sz="2000" dirty="0">
                <a:solidFill>
                  <a:srgbClr val="526779"/>
                </a:solidFill>
                <a:latin typeface="Segoe UI" pitchFamily="34" charset="0"/>
                <a:ea typeface="Segoe UI" pitchFamily="34" charset="-122"/>
                <a:cs typeface="Segoe UI" pitchFamily="34" charset="-120"/>
              </a:rPr>
              <a:t>Announce the change in expectations.</a:t>
            </a:r>
            <a:endParaRPr lang="en-US" sz="2000" dirty="0"/>
          </a:p>
        </p:txBody>
      </p:sp>
      <p:sp>
        <p:nvSpPr>
          <p:cNvPr id="13" name="Shape 11"/>
          <p:cNvSpPr/>
          <p:nvPr/>
        </p:nvSpPr>
        <p:spPr>
          <a:xfrm>
            <a:off x="585216" y="4672584"/>
            <a:ext cx="10991088" cy="859536"/>
          </a:xfrm>
          <a:prstGeom prst="roundRect">
            <a:avLst>
              <a:gd name="adj" fmla="val 12766"/>
            </a:avLst>
          </a:prstGeom>
          <a:solidFill>
            <a:srgbClr val="FFFFFF"/>
          </a:solidFill>
          <a:ln w="8890">
            <a:solidFill>
              <a:srgbClr val="D4DDD9"/>
            </a:solidFill>
            <a:prstDash val="solid"/>
          </a:ln>
        </p:spPr>
      </p:sp>
      <p:sp>
        <p:nvSpPr>
          <p:cNvPr id="14" name="Text 12"/>
          <p:cNvSpPr/>
          <p:nvPr/>
        </p:nvSpPr>
        <p:spPr>
          <a:xfrm>
            <a:off x="740664" y="4855464"/>
            <a:ext cx="1371600" cy="384048"/>
          </a:xfrm>
          <a:prstGeom prst="rect">
            <a:avLst/>
          </a:prstGeom>
          <a:noFill/>
          <a:ln/>
        </p:spPr>
        <p:txBody>
          <a:bodyPr wrap="square" lIns="0" tIns="0" rIns="0" bIns="0" rtlCol="0" anchor="t"/>
          <a:lstStyle/>
          <a:p>
            <a:pPr marL="0" indent="0">
              <a:buNone/>
            </a:pPr>
            <a:r>
              <a:rPr lang="en-US" altLang="en-US" sz="1800" b="1" dirty="0">
                <a:solidFill>
                  <a:srgbClr val="0F766E"/>
                </a:solidFill>
                <a:latin typeface="Segoe UI" pitchFamily="34" charset="0"/>
                <a:ea typeface="Segoe UI" pitchFamily="34" charset="-122"/>
                <a:cs typeface="Segoe UI" pitchFamily="34" charset="-120"/>
              </a:rPr>
              <a:t>PROTECT</a:t>
            </a:r>
            <a:endParaRPr lang="en-US" sz="1800" dirty="0"/>
          </a:p>
        </p:txBody>
      </p:sp>
      <p:sp>
        <p:nvSpPr>
          <p:cNvPr id="15" name="Text 13"/>
          <p:cNvSpPr/>
          <p:nvPr/>
        </p:nvSpPr>
        <p:spPr>
          <a:xfrm>
            <a:off x="2231136" y="4736592"/>
            <a:ext cx="4526280" cy="731520"/>
          </a:xfrm>
          <a:prstGeom prst="rect">
            <a:avLst/>
          </a:prstGeom>
          <a:noFill/>
          <a:ln/>
        </p:spPr>
        <p:txBody>
          <a:bodyPr wrap="square" lIns="0" tIns="0" rIns="0" bIns="0" rtlCol="0" anchor="t"/>
          <a:lstStyle/>
          <a:p>
            <a:pPr marL="0" indent="0">
              <a:buNone/>
            </a:pPr>
            <a:r>
              <a:rPr lang="en-US" altLang="en-US" sz="2300" b="1" dirty="0">
                <a:solidFill>
                  <a:srgbClr val="102A43"/>
                </a:solidFill>
                <a:latin typeface="Segoe UI" pitchFamily="34" charset="0"/>
                <a:ea typeface="Segoe UI" pitchFamily="34" charset="-122"/>
                <a:cs typeface="Segoe UI" pitchFamily="34" charset="-120"/>
              </a:rPr>
              <a:t>Core build, review and closure</a:t>
            </a:r>
            <a:endParaRPr lang="en-US" sz="2300" dirty="0"/>
          </a:p>
        </p:txBody>
      </p:sp>
      <p:sp>
        <p:nvSpPr>
          <p:cNvPr id="16" name="Text 14"/>
          <p:cNvSpPr/>
          <p:nvPr/>
        </p:nvSpPr>
        <p:spPr>
          <a:xfrm>
            <a:off x="6949440" y="4773168"/>
            <a:ext cx="4443984" cy="685800"/>
          </a:xfrm>
          <a:prstGeom prst="rect">
            <a:avLst/>
          </a:prstGeom>
          <a:noFill/>
          <a:ln/>
        </p:spPr>
        <p:txBody>
          <a:bodyPr wrap="square" lIns="0" tIns="0" rIns="0" bIns="0" rtlCol="0" anchor="t"/>
          <a:lstStyle/>
          <a:p>
            <a:pPr marL="0" indent="0">
              <a:buNone/>
            </a:pPr>
            <a:r>
              <a:rPr lang="en-US" altLang="en-US" sz="2000" dirty="0">
                <a:solidFill>
                  <a:srgbClr val="526779"/>
                </a:solidFill>
                <a:latin typeface="Segoe UI" pitchFamily="34" charset="0"/>
                <a:ea typeface="Segoe UI" pitchFamily="34" charset="-122"/>
                <a:cs typeface="Segoe UI" pitchFamily="34" charset="-120"/>
              </a:rPr>
              <a:t>Do not trade evidence checks for a dramatic finish.</a:t>
            </a:r>
            <a:endParaRPr lang="en-US" sz="2000" dirty="0"/>
          </a:p>
        </p:txBody>
      </p:sp>
      <p:sp>
        <p:nvSpPr>
          <p:cNvPr id="17" name="Shape 15"/>
          <p:cNvSpPr/>
          <p:nvPr/>
        </p:nvSpPr>
        <p:spPr>
          <a:xfrm>
            <a:off x="585216" y="5824728"/>
            <a:ext cx="10991088" cy="502920"/>
          </a:xfrm>
          <a:prstGeom prst="rect">
            <a:avLst/>
          </a:prstGeom>
          <a:solidFill>
            <a:srgbClr val="E5EEEB"/>
          </a:solidFill>
          <a:ln w="8890">
            <a:solidFill>
              <a:srgbClr val="E5EEEB"/>
            </a:solidFill>
            <a:prstDash val="solid"/>
          </a:ln>
        </p:spPr>
      </p:sp>
      <p:sp>
        <p:nvSpPr>
          <p:cNvPr id="18" name="Text 16"/>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Return-time slides remain reusable; announce the actual clock time.</a:t>
            </a:r>
            <a:endParaRPr lang="en-US" sz="1850" dirty="0"/>
          </a:p>
        </p:txBody>
      </p:sp>
      <p:sp>
        <p:nvSpPr>
          <p:cNvPr id="19" name="Text 17"/>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FACILITATOR ONLY / DO NOT PROJECT</a:t>
            </a:r>
            <a:endParaRPr lang="en-US" sz="1050" dirty="0"/>
          </a:p>
        </p:txBody>
      </p:sp>
      <p:sp>
        <p:nvSpPr>
          <p:cNvPr id="20" name="Text 18">
            <a:hlinkClick r:id="rId3" action="ppaction://hlinksldjump" tooltip="Go to the facilitator index"/>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facilitator index">
                  <a:extLst>
                    <a:ext uri="{A12FA001-AC4F-418D-AE19-62706E023703}">
                      <ahyp:hlinkClr xmlns:ahyp="http://schemas.microsoft.com/office/drawing/2018/hyperlinkcolor" val="tx"/>
                    </a:ext>
                  </a:extLst>
                </a:hlinkClick>
              </a:rPr>
              <a:t>INDEX</a:t>
            </a:r>
            <a:endParaRPr lang="en-US" sz="1100" dirty="0"/>
          </a:p>
        </p:txBody>
      </p:sp>
      <p:sp>
        <p:nvSpPr>
          <p:cNvPr id="21" name="Text 19"/>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I15 / 18</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FACILITATOR FIELD GUIDE</a:t>
            </a:r>
            <a:endParaRPr lang="en-US" sz="1150" dirty="0"/>
          </a:p>
        </p:txBody>
      </p:sp>
      <p:sp>
        <p:nvSpPr>
          <p:cNvPr id="3" name="I16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Evaluate and recognize</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Treat these as planning goals, not claimed outcomes.</a:t>
            </a:r>
            <a:endParaRPr lang="en-US" sz="2400" dirty="0"/>
          </a:p>
        </p:txBody>
      </p:sp>
      <p:sp>
        <p:nvSpPr>
          <p:cNvPr id="5" name="Text 3"/>
          <p:cNvSpPr/>
          <p:nvPr/>
        </p:nvSpPr>
        <p:spPr>
          <a:xfrm>
            <a:off x="585216" y="2770632"/>
            <a:ext cx="3419856" cy="1097280"/>
          </a:xfrm>
          <a:prstGeom prst="rect">
            <a:avLst/>
          </a:prstGeom>
          <a:noFill/>
          <a:ln/>
        </p:spPr>
        <p:txBody>
          <a:bodyPr wrap="square" lIns="0" tIns="0" rIns="0" bIns="0" rtlCol="0" anchor="t"/>
          <a:lstStyle/>
          <a:p>
            <a:pPr marL="0" indent="0" algn="ctr">
              <a:buNone/>
            </a:pPr>
            <a:r>
              <a:rPr lang="en-US" altLang="en-US" sz="6000" b="1" dirty="0">
                <a:solidFill>
                  <a:srgbClr val="0F766E"/>
                </a:solidFill>
                <a:latin typeface="Segoe UI" pitchFamily="34" charset="0"/>
                <a:ea typeface="Segoe UI" pitchFamily="34" charset="-122"/>
                <a:cs typeface="Segoe UI" pitchFamily="34" charset="-120"/>
              </a:rPr>
              <a:t>85%</a:t>
            </a:r>
            <a:endParaRPr lang="en-US" sz="6000" dirty="0"/>
          </a:p>
        </p:txBody>
      </p:sp>
      <p:sp>
        <p:nvSpPr>
          <p:cNvPr id="6" name="Text 4"/>
          <p:cNvSpPr/>
          <p:nvPr/>
        </p:nvSpPr>
        <p:spPr>
          <a:xfrm>
            <a:off x="585216" y="4142232"/>
            <a:ext cx="3419856" cy="438912"/>
          </a:xfrm>
          <a:prstGeom prst="rect">
            <a:avLst/>
          </a:prstGeom>
          <a:noFill/>
          <a:ln/>
        </p:spPr>
        <p:txBody>
          <a:bodyPr wrap="square" lIns="0" tIns="0" rIns="0" bIns="0" rtlCol="0" anchor="t"/>
          <a:lstStyle/>
          <a:p>
            <a:pPr marL="0" indent="0" algn="ctr">
              <a:buNone/>
            </a:pPr>
            <a:r>
              <a:rPr lang="en-US" altLang="en-US" sz="2600" b="1" dirty="0">
                <a:solidFill>
                  <a:srgbClr val="102A43"/>
                </a:solidFill>
                <a:latin typeface="Segoe UI" pitchFamily="34" charset="0"/>
                <a:ea typeface="Segoe UI" pitchFamily="34" charset="-122"/>
                <a:cs typeface="Segoe UI" pitchFamily="34" charset="-120"/>
              </a:rPr>
              <a:t>Missions 1-3</a:t>
            </a:r>
            <a:endParaRPr lang="en-US" sz="2600" dirty="0"/>
          </a:p>
        </p:txBody>
      </p:sp>
      <p:sp>
        <p:nvSpPr>
          <p:cNvPr id="7" name="Text 5"/>
          <p:cNvSpPr/>
          <p:nvPr/>
        </p:nvSpPr>
        <p:spPr>
          <a:xfrm>
            <a:off x="694944" y="4809744"/>
            <a:ext cx="3191256" cy="694944"/>
          </a:xfrm>
          <a:prstGeom prst="rect">
            <a:avLst/>
          </a:prstGeom>
          <a:noFill/>
          <a:ln/>
        </p:spPr>
        <p:txBody>
          <a:bodyPr wrap="square" lIns="0" tIns="0" rIns="0" bIns="0" rtlCol="0" anchor="t"/>
          <a:lstStyle/>
          <a:p>
            <a:pPr marL="0" indent="0" algn="ctr">
              <a:buNone/>
            </a:pPr>
            <a:r>
              <a:rPr lang="en-US" altLang="en-US" sz="2200" dirty="0">
                <a:solidFill>
                  <a:srgbClr val="526779"/>
                </a:solidFill>
                <a:latin typeface="Segoe UI" pitchFamily="34" charset="0"/>
                <a:ea typeface="Segoe UI" pitchFamily="34" charset="-122"/>
                <a:cs typeface="Segoe UI" pitchFamily="34" charset="-120"/>
              </a:rPr>
              <a:t>Active units completing the core path</a:t>
            </a:r>
            <a:endParaRPr lang="en-US" sz="2200" dirty="0"/>
          </a:p>
        </p:txBody>
      </p:sp>
      <p:sp>
        <p:nvSpPr>
          <p:cNvPr id="8" name="Text 6"/>
          <p:cNvSpPr/>
          <p:nvPr/>
        </p:nvSpPr>
        <p:spPr>
          <a:xfrm>
            <a:off x="4352544" y="2770632"/>
            <a:ext cx="3419856" cy="1097280"/>
          </a:xfrm>
          <a:prstGeom prst="rect">
            <a:avLst/>
          </a:prstGeom>
          <a:noFill/>
          <a:ln/>
        </p:spPr>
        <p:txBody>
          <a:bodyPr wrap="square" lIns="0" tIns="0" rIns="0" bIns="0" rtlCol="0" anchor="t"/>
          <a:lstStyle/>
          <a:p>
            <a:pPr marL="0" indent="0" algn="ctr">
              <a:buNone/>
            </a:pPr>
            <a:r>
              <a:rPr lang="en-US" altLang="en-US" sz="6000" b="1" dirty="0">
                <a:solidFill>
                  <a:srgbClr val="0F766E"/>
                </a:solidFill>
                <a:latin typeface="Segoe UI" pitchFamily="34" charset="0"/>
                <a:ea typeface="Segoe UI" pitchFamily="34" charset="-122"/>
                <a:cs typeface="Segoe UI" pitchFamily="34" charset="-120"/>
              </a:rPr>
              <a:t>60%</a:t>
            </a:r>
            <a:endParaRPr lang="en-US" sz="6000" dirty="0"/>
          </a:p>
        </p:txBody>
      </p:sp>
      <p:sp>
        <p:nvSpPr>
          <p:cNvPr id="9" name="Text 7"/>
          <p:cNvSpPr/>
          <p:nvPr/>
        </p:nvSpPr>
        <p:spPr>
          <a:xfrm>
            <a:off x="4352544" y="4142232"/>
            <a:ext cx="3419856" cy="438912"/>
          </a:xfrm>
          <a:prstGeom prst="rect">
            <a:avLst/>
          </a:prstGeom>
          <a:noFill/>
          <a:ln/>
        </p:spPr>
        <p:txBody>
          <a:bodyPr wrap="square" lIns="0" tIns="0" rIns="0" bIns="0" rtlCol="0" anchor="t"/>
          <a:lstStyle/>
          <a:p>
            <a:pPr marL="0" indent="0" algn="ctr">
              <a:buNone/>
            </a:pPr>
            <a:r>
              <a:rPr lang="en-US" altLang="en-US" sz="2600" b="1" dirty="0">
                <a:solidFill>
                  <a:srgbClr val="102A43"/>
                </a:solidFill>
                <a:latin typeface="Segoe UI" pitchFamily="34" charset="0"/>
                <a:ea typeface="Segoe UI" pitchFamily="34" charset="-122"/>
                <a:cs typeface="Segoe UI" pitchFamily="34" charset="-120"/>
              </a:rPr>
              <a:t>Mission 4</a:t>
            </a:r>
            <a:endParaRPr lang="en-US" sz="2600" dirty="0"/>
          </a:p>
        </p:txBody>
      </p:sp>
      <p:sp>
        <p:nvSpPr>
          <p:cNvPr id="10" name="Text 8"/>
          <p:cNvSpPr/>
          <p:nvPr/>
        </p:nvSpPr>
        <p:spPr>
          <a:xfrm>
            <a:off x="4462272" y="4809744"/>
            <a:ext cx="3191256" cy="694944"/>
          </a:xfrm>
          <a:prstGeom prst="rect">
            <a:avLst/>
          </a:prstGeom>
          <a:noFill/>
          <a:ln/>
        </p:spPr>
        <p:txBody>
          <a:bodyPr wrap="square" lIns="0" tIns="0" rIns="0" bIns="0" rtlCol="0" anchor="t"/>
          <a:lstStyle/>
          <a:p>
            <a:pPr marL="0" indent="0" algn="ctr">
              <a:buNone/>
            </a:pPr>
            <a:r>
              <a:rPr lang="en-US" altLang="en-US" sz="2200" dirty="0">
                <a:solidFill>
                  <a:srgbClr val="526779"/>
                </a:solidFill>
                <a:latin typeface="Segoe UI" pitchFamily="34" charset="0"/>
                <a:ea typeface="Segoe UI" pitchFamily="34" charset="-122"/>
                <a:cs typeface="Segoe UI" pitchFamily="34" charset="-120"/>
              </a:rPr>
              <a:t>Active units reaching specialist coordination</a:t>
            </a:r>
            <a:endParaRPr lang="en-US" sz="2200" dirty="0"/>
          </a:p>
        </p:txBody>
      </p:sp>
      <p:sp>
        <p:nvSpPr>
          <p:cNvPr id="11" name="Text 9"/>
          <p:cNvSpPr/>
          <p:nvPr/>
        </p:nvSpPr>
        <p:spPr>
          <a:xfrm>
            <a:off x="8119872" y="2770632"/>
            <a:ext cx="3419856" cy="1097280"/>
          </a:xfrm>
          <a:prstGeom prst="rect">
            <a:avLst/>
          </a:prstGeom>
          <a:noFill/>
          <a:ln/>
        </p:spPr>
        <p:txBody>
          <a:bodyPr wrap="square" lIns="0" tIns="0" rIns="0" bIns="0" rtlCol="0" anchor="t"/>
          <a:lstStyle/>
          <a:p>
            <a:pPr marL="0" indent="0" algn="ctr">
              <a:buNone/>
            </a:pPr>
            <a:r>
              <a:rPr lang="en-US" altLang="en-US" sz="6000" b="1" dirty="0">
                <a:solidFill>
                  <a:srgbClr val="0F766E"/>
                </a:solidFill>
                <a:latin typeface="Segoe UI" pitchFamily="34" charset="0"/>
                <a:ea typeface="Segoe UI" pitchFamily="34" charset="-122"/>
                <a:cs typeface="Segoe UI" pitchFamily="34" charset="-120"/>
              </a:rPr>
              <a:t>40%</a:t>
            </a:r>
            <a:endParaRPr lang="en-US" sz="6000" dirty="0"/>
          </a:p>
        </p:txBody>
      </p:sp>
      <p:sp>
        <p:nvSpPr>
          <p:cNvPr id="12" name="Text 10"/>
          <p:cNvSpPr/>
          <p:nvPr/>
        </p:nvSpPr>
        <p:spPr>
          <a:xfrm>
            <a:off x="8119872" y="4142232"/>
            <a:ext cx="3419856" cy="438912"/>
          </a:xfrm>
          <a:prstGeom prst="rect">
            <a:avLst/>
          </a:prstGeom>
          <a:noFill/>
          <a:ln/>
        </p:spPr>
        <p:txBody>
          <a:bodyPr wrap="square" lIns="0" tIns="0" rIns="0" bIns="0" rtlCol="0" anchor="t"/>
          <a:lstStyle/>
          <a:p>
            <a:pPr marL="0" indent="0" algn="ctr">
              <a:buNone/>
            </a:pPr>
            <a:r>
              <a:rPr lang="en-US" altLang="en-US" sz="2600" b="1" dirty="0">
                <a:solidFill>
                  <a:srgbClr val="102A43"/>
                </a:solidFill>
                <a:latin typeface="Segoe UI" pitchFamily="34" charset="0"/>
                <a:ea typeface="Segoe UI" pitchFamily="34" charset="-122"/>
                <a:cs typeface="Segoe UI" pitchFamily="34" charset="-120"/>
              </a:rPr>
              <a:t>Mission 5</a:t>
            </a:r>
            <a:endParaRPr lang="en-US" sz="2600" dirty="0"/>
          </a:p>
        </p:txBody>
      </p:sp>
      <p:sp>
        <p:nvSpPr>
          <p:cNvPr id="13" name="Text 11"/>
          <p:cNvSpPr/>
          <p:nvPr/>
        </p:nvSpPr>
        <p:spPr>
          <a:xfrm>
            <a:off x="8229600" y="4809744"/>
            <a:ext cx="3191256" cy="694944"/>
          </a:xfrm>
          <a:prstGeom prst="rect">
            <a:avLst/>
          </a:prstGeom>
          <a:noFill/>
          <a:ln/>
        </p:spPr>
        <p:txBody>
          <a:bodyPr wrap="square" lIns="0" tIns="0" rIns="0" bIns="0" rtlCol="0" anchor="t"/>
          <a:lstStyle/>
          <a:p>
            <a:pPr marL="0" indent="0" algn="ctr">
              <a:buNone/>
            </a:pPr>
            <a:r>
              <a:rPr lang="en-US" altLang="en-US" sz="2200" dirty="0">
                <a:solidFill>
                  <a:srgbClr val="526779"/>
                </a:solidFill>
                <a:latin typeface="Segoe UI" pitchFamily="34" charset="0"/>
                <a:ea typeface="Segoe UI" pitchFamily="34" charset="-122"/>
                <a:cs typeface="Segoe UI" pitchFamily="34" charset="-120"/>
              </a:rPr>
              <a:t>Active units completing the core objective</a:t>
            </a:r>
            <a:endParaRPr lang="en-US" sz="2200" dirty="0"/>
          </a:p>
        </p:txBody>
      </p:sp>
      <p:sp>
        <p:nvSpPr>
          <p:cNvPr id="14" name="Shape 12"/>
          <p:cNvSpPr/>
          <p:nvPr/>
        </p:nvSpPr>
        <p:spPr>
          <a:xfrm>
            <a:off x="585216" y="5824728"/>
            <a:ext cx="10991088" cy="502920"/>
          </a:xfrm>
          <a:prstGeom prst="rect">
            <a:avLst/>
          </a:prstGeom>
          <a:solidFill>
            <a:srgbClr val="E5EEEB"/>
          </a:solidFill>
          <a:ln w="8890">
            <a:solidFill>
              <a:srgbClr val="E5EEEB"/>
            </a:solidFill>
            <a:prstDash val="solid"/>
          </a:ln>
        </p:spPr>
      </p:sp>
      <p:sp>
        <p:nvSpPr>
          <p:cNvPr id="15" name="Text 13"/>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Recognize evidence, reliability, collaboration and safe recovery.</a:t>
            </a:r>
            <a:endParaRPr lang="en-US" sz="1850" dirty="0"/>
          </a:p>
        </p:txBody>
      </p:sp>
      <p:sp>
        <p:nvSpPr>
          <p:cNvPr id="16" name="Text 14"/>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FACILITATOR ONLY / DO NOT PROJECT</a:t>
            </a:r>
            <a:endParaRPr lang="en-US" sz="1050" dirty="0"/>
          </a:p>
        </p:txBody>
      </p:sp>
      <p:sp>
        <p:nvSpPr>
          <p:cNvPr id="17" name="Text 15">
            <a:hlinkClick r:id="rId3" action="ppaction://hlinksldjump" tooltip="Go to the facilitator index"/>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facilitator index">
                  <a:extLst>
                    <a:ext uri="{A12FA001-AC4F-418D-AE19-62706E023703}">
                      <ahyp:hlinkClr xmlns:ahyp="http://schemas.microsoft.com/office/drawing/2018/hyperlinkcolor" val="tx"/>
                    </a:ext>
                  </a:extLst>
                </a:hlinkClick>
              </a:rPr>
              <a:t>INDEX</a:t>
            </a:r>
            <a:endParaRPr lang="en-US" sz="1100" dirty="0"/>
          </a:p>
        </p:txBody>
      </p:sp>
      <p:sp>
        <p:nvSpPr>
          <p:cNvPr id="18" name="Text 16"/>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I16 / 18</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FACILITATOR FIELD GUIDE</a:t>
            </a:r>
            <a:endParaRPr lang="en-US" sz="1150" dirty="0"/>
          </a:p>
        </p:txBody>
      </p:sp>
      <p:sp>
        <p:nvSpPr>
          <p:cNvPr id="3" name="I17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Decide how the story closes</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Choose the ending that matches the evidence.</a:t>
            </a:r>
            <a:endParaRPr lang="en-US" sz="2400" dirty="0"/>
          </a:p>
        </p:txBody>
      </p:sp>
      <p:sp>
        <p:nvSpPr>
          <p:cNvPr id="5" name="Shape 3"/>
          <p:cNvSpPr/>
          <p:nvPr/>
        </p:nvSpPr>
        <p:spPr>
          <a:xfrm>
            <a:off x="585216" y="2679192"/>
            <a:ext cx="5303520" cy="2834640"/>
          </a:xfrm>
          <a:prstGeom prst="roundRect">
            <a:avLst>
              <a:gd name="adj" fmla="val 3871"/>
            </a:avLst>
          </a:prstGeom>
          <a:solidFill>
            <a:srgbClr val="FFFFFF"/>
          </a:solidFill>
          <a:ln w="8890">
            <a:solidFill>
              <a:srgbClr val="D4DDD9"/>
            </a:solidFill>
            <a:prstDash val="solid"/>
          </a:ln>
        </p:spPr>
      </p:sp>
      <p:sp>
        <p:nvSpPr>
          <p:cNvPr id="6" name="Text 4"/>
          <p:cNvSpPr/>
          <p:nvPr/>
        </p:nvSpPr>
        <p:spPr>
          <a:xfrm>
            <a:off x="813816" y="2889504"/>
            <a:ext cx="4846320" cy="374904"/>
          </a:xfrm>
          <a:prstGeom prst="rect">
            <a:avLst/>
          </a:prstGeom>
          <a:noFill/>
          <a:ln/>
        </p:spPr>
        <p:txBody>
          <a:bodyPr wrap="square" lIns="0" tIns="0" rIns="0" bIns="0" rtlCol="0" anchor="t"/>
          <a:lstStyle/>
          <a:p>
            <a:pPr marL="0" indent="0">
              <a:buNone/>
            </a:pPr>
            <a:r>
              <a:rPr lang="en-US" altLang="en-US" sz="1750" b="1" dirty="0">
                <a:solidFill>
                  <a:srgbClr val="0F766E"/>
                </a:solidFill>
                <a:latin typeface="Segoe UI" pitchFamily="34" charset="0"/>
                <a:ea typeface="Segoe UI" pitchFamily="34" charset="-122"/>
                <a:cs typeface="Segoe UI" pitchFamily="34" charset="-120"/>
              </a:rPr>
              <a:t>RECOVERY ACHIEVED</a:t>
            </a:r>
            <a:endParaRPr lang="en-US" sz="1750" dirty="0"/>
          </a:p>
        </p:txBody>
      </p:sp>
      <p:sp>
        <p:nvSpPr>
          <p:cNvPr id="7" name="Text 5"/>
          <p:cNvSpPr/>
          <p:nvPr/>
        </p:nvSpPr>
        <p:spPr>
          <a:xfrm>
            <a:off x="813816" y="3438144"/>
            <a:ext cx="4846320" cy="1517904"/>
          </a:xfrm>
          <a:prstGeom prst="rect">
            <a:avLst/>
          </a:prstGeom>
          <a:noFill/>
          <a:ln/>
        </p:spPr>
        <p:txBody>
          <a:bodyPr wrap="square" lIns="0" tIns="0" rIns="0" bIns="0" rtlCol="0" anchor="t"/>
          <a:lstStyle/>
          <a:p>
            <a:pPr marL="0" indent="0">
              <a:buNone/>
            </a:pPr>
            <a:r>
              <a:rPr lang="en-US" altLang="en-US" sz="2400" dirty="0">
                <a:solidFill>
                  <a:srgbClr val="102A43"/>
                </a:solidFill>
                <a:latin typeface="Segoe UI" pitchFamily="34" charset="0"/>
                <a:ea typeface="Segoe UI" pitchFamily="34" charset="-122"/>
                <a:cs typeface="Segoe UI" pitchFamily="34" charset="-120"/>
              </a:rPr>
              <a:t>Show verified contributions.</a:t>
            </a:r>
            <a:endParaRPr lang="en-US" sz="2400" dirty="0"/>
          </a:p>
          <a:p>
            <a:pPr marL="0" indent="0">
              <a:buNone/>
            </a:pPr>
            <a:r>
              <a:rPr lang="en-US" altLang="en-US" sz="2400" dirty="0">
                <a:solidFill>
                  <a:srgbClr val="102A43"/>
                </a:solidFill>
                <a:latin typeface="Segoe UI" pitchFamily="34" charset="0"/>
                <a:ea typeface="Segoe UI" pitchFamily="34" charset="-122"/>
                <a:cs typeface="Segoe UI" pitchFamily="34" charset="-120"/>
              </a:rPr>
              <a:t>Explain remaining responsibilities.</a:t>
            </a:r>
            <a:endParaRPr lang="en-US" sz="2400" dirty="0"/>
          </a:p>
        </p:txBody>
      </p:sp>
      <p:sp>
        <p:nvSpPr>
          <p:cNvPr id="8" name="Text 6"/>
          <p:cNvSpPr/>
          <p:nvPr/>
        </p:nvSpPr>
        <p:spPr>
          <a:xfrm>
            <a:off x="813816" y="5129784"/>
            <a:ext cx="4846320" cy="329184"/>
          </a:xfrm>
          <a:prstGeom prst="rect">
            <a:avLst/>
          </a:prstGeom>
          <a:noFill/>
          <a:ln/>
        </p:spPr>
        <p:txBody>
          <a:bodyPr wrap="square" lIns="0" tIns="0" rIns="0" bIns="0" rtlCol="0" anchor="t"/>
          <a:lstStyle/>
          <a:p>
            <a:pPr marL="0" indent="0">
              <a:buNone/>
            </a:pPr>
            <a:r>
              <a:rPr lang="en-US" altLang="en-US" sz="1650" dirty="0">
                <a:solidFill>
                  <a:srgbClr val="526779"/>
                </a:solidFill>
                <a:latin typeface="Segoe UI" pitchFamily="34" charset="0"/>
                <a:ea typeface="Segoe UI" pitchFamily="34" charset="-122"/>
                <a:cs typeface="Segoe UI" pitchFamily="34" charset="-120"/>
              </a:rPr>
              <a:t>Celebrate the work, not a fictional perfect system.</a:t>
            </a:r>
            <a:endParaRPr lang="en-US" sz="1650" dirty="0"/>
          </a:p>
        </p:txBody>
      </p:sp>
      <p:sp>
        <p:nvSpPr>
          <p:cNvPr id="9" name="Shape 7"/>
          <p:cNvSpPr/>
          <p:nvPr/>
        </p:nvSpPr>
        <p:spPr>
          <a:xfrm>
            <a:off x="6272784" y="2679192"/>
            <a:ext cx="5303520" cy="2834640"/>
          </a:xfrm>
          <a:prstGeom prst="roundRect">
            <a:avLst>
              <a:gd name="adj" fmla="val 3871"/>
            </a:avLst>
          </a:prstGeom>
          <a:solidFill>
            <a:srgbClr val="102A43"/>
          </a:solidFill>
          <a:ln w="8890">
            <a:solidFill>
              <a:srgbClr val="102A43"/>
            </a:solidFill>
            <a:prstDash val="solid"/>
          </a:ln>
        </p:spPr>
      </p:sp>
      <p:sp>
        <p:nvSpPr>
          <p:cNvPr id="10" name="Text 8"/>
          <p:cNvSpPr/>
          <p:nvPr/>
        </p:nvSpPr>
        <p:spPr>
          <a:xfrm>
            <a:off x="6501384" y="2889504"/>
            <a:ext cx="4846320" cy="374904"/>
          </a:xfrm>
          <a:prstGeom prst="rect">
            <a:avLst/>
          </a:prstGeom>
          <a:noFill/>
          <a:ln/>
        </p:spPr>
        <p:txBody>
          <a:bodyPr wrap="square" lIns="0" tIns="0" rIns="0" bIns="0" rtlCol="0" anchor="t"/>
          <a:lstStyle/>
          <a:p>
            <a:pPr marL="0" indent="0">
              <a:buNone/>
            </a:pPr>
            <a:r>
              <a:rPr lang="en-US" altLang="en-US" sz="1750" b="1" dirty="0">
                <a:solidFill>
                  <a:srgbClr val="5EEAD4"/>
                </a:solidFill>
                <a:latin typeface="Segoe UI" pitchFamily="34" charset="0"/>
                <a:ea typeface="Segoe UI" pitchFamily="34" charset="-122"/>
                <a:cs typeface="Segoe UI" pitchFamily="34" charset="-120"/>
              </a:rPr>
              <a:t>RECOVERY PARTIAL</a:t>
            </a:r>
            <a:endParaRPr lang="en-US" sz="1750" dirty="0"/>
          </a:p>
        </p:txBody>
      </p:sp>
      <p:sp>
        <p:nvSpPr>
          <p:cNvPr id="11" name="Text 9"/>
          <p:cNvSpPr/>
          <p:nvPr/>
        </p:nvSpPr>
        <p:spPr>
          <a:xfrm>
            <a:off x="6501384" y="3438144"/>
            <a:ext cx="4846320" cy="1517904"/>
          </a:xfrm>
          <a:prstGeom prst="rect">
            <a:avLst/>
          </a:prstGeom>
          <a:noFill/>
          <a:ln/>
        </p:spPr>
        <p:txBody>
          <a:bodyPr wrap="square" lIns="0" tIns="0" rIns="0" bIns="0" rtlCol="0" anchor="t"/>
          <a:lstStyle/>
          <a:p>
            <a:pPr marL="0" indent="0">
              <a:buNone/>
            </a:pPr>
            <a:r>
              <a:rPr lang="en-US" altLang="en-US" sz="2400" dirty="0">
                <a:solidFill>
                  <a:srgbClr val="FFFFFF"/>
                </a:solidFill>
                <a:latin typeface="Segoe UI" pitchFamily="34" charset="0"/>
                <a:ea typeface="Segoe UI" pitchFamily="34" charset="-122"/>
                <a:cs typeface="Segoe UI" pitchFamily="34" charset="-120"/>
              </a:rPr>
              <a:t>Show what improved.</a:t>
            </a:r>
            <a:endParaRPr lang="en-US" sz="2400" dirty="0"/>
          </a:p>
          <a:p>
            <a:pPr marL="0" indent="0">
              <a:buNone/>
            </a:pPr>
            <a:r>
              <a:rPr lang="en-US" altLang="en-US" sz="2400" dirty="0">
                <a:solidFill>
                  <a:srgbClr val="FFFFFF"/>
                </a:solidFill>
                <a:latin typeface="Segoe UI" pitchFamily="34" charset="0"/>
                <a:ea typeface="Segoe UI" pitchFamily="34" charset="-122"/>
                <a:cs typeface="Segoe UI" pitchFamily="34" charset="-120"/>
              </a:rPr>
              <a:t>Name the evidence to collect</a:t>
            </a:r>
            <a:endParaRPr lang="en-US" sz="2400" dirty="0"/>
          </a:p>
          <a:p>
            <a:pPr marL="0" indent="0">
              <a:buNone/>
            </a:pPr>
            <a:r>
              <a:rPr lang="en-US" altLang="en-US" sz="2400" dirty="0">
                <a:solidFill>
                  <a:srgbClr val="FFFFFF"/>
                </a:solidFill>
                <a:latin typeface="Segoe UI" pitchFamily="34" charset="0"/>
                <a:ea typeface="Segoe UI" pitchFamily="34" charset="-122"/>
                <a:cs typeface="Segoe UI" pitchFamily="34" charset="-120"/>
              </a:rPr>
              <a:t>and the action needed.</a:t>
            </a:r>
            <a:endParaRPr lang="en-US" sz="2400" dirty="0"/>
          </a:p>
        </p:txBody>
      </p:sp>
      <p:sp>
        <p:nvSpPr>
          <p:cNvPr id="12" name="Text 10"/>
          <p:cNvSpPr/>
          <p:nvPr/>
        </p:nvSpPr>
        <p:spPr>
          <a:xfrm>
            <a:off x="6501384" y="5129784"/>
            <a:ext cx="4846320" cy="329184"/>
          </a:xfrm>
          <a:prstGeom prst="rect">
            <a:avLst/>
          </a:prstGeom>
          <a:noFill/>
          <a:ln/>
        </p:spPr>
        <p:txBody>
          <a:bodyPr wrap="square" lIns="0" tIns="0" rIns="0" bIns="0" rtlCol="0" anchor="t"/>
          <a:lstStyle/>
          <a:p>
            <a:pPr marL="0" indent="0">
              <a:buNone/>
            </a:pPr>
            <a:r>
              <a:rPr lang="en-US" altLang="en-US" sz="1650" dirty="0">
                <a:solidFill>
                  <a:srgbClr val="C9D8E2"/>
                </a:solidFill>
                <a:latin typeface="Segoe UI" pitchFamily="34" charset="0"/>
                <a:ea typeface="Segoe UI" pitchFamily="34" charset="-122"/>
                <a:cs typeface="Segoe UI" pitchFamily="34" charset="-120"/>
              </a:rPr>
              <a:t>Learning does not require a fabricated unlock.</a:t>
            </a:r>
            <a:endParaRPr lang="en-US" sz="1650" dirty="0"/>
          </a:p>
        </p:txBody>
      </p:sp>
      <p:sp>
        <p:nvSpPr>
          <p:cNvPr id="13" name="Shape 11"/>
          <p:cNvSpPr/>
          <p:nvPr/>
        </p:nvSpPr>
        <p:spPr>
          <a:xfrm>
            <a:off x="585216" y="5824728"/>
            <a:ext cx="10991088" cy="502920"/>
          </a:xfrm>
          <a:prstGeom prst="rect">
            <a:avLst/>
          </a:prstGeom>
          <a:solidFill>
            <a:srgbClr val="E5EEEB"/>
          </a:solidFill>
          <a:ln w="8890">
            <a:solidFill>
              <a:srgbClr val="E5EEEB"/>
            </a:solidFill>
            <a:prstDash val="solid"/>
          </a:ln>
        </p:spPr>
      </p:sp>
      <p:sp>
        <p:nvSpPr>
          <p:cNvPr id="14" name="Text 12"/>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P53 and P60 support both outcomes without changing the deck.</a:t>
            </a:r>
            <a:endParaRPr lang="en-US" sz="1850" dirty="0"/>
          </a:p>
        </p:txBody>
      </p:sp>
      <p:sp>
        <p:nvSpPr>
          <p:cNvPr id="15" name="Text 13"/>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FACILITATOR ONLY / DO NOT PROJECT</a:t>
            </a:r>
            <a:endParaRPr lang="en-US" sz="1050" dirty="0"/>
          </a:p>
        </p:txBody>
      </p:sp>
      <p:sp>
        <p:nvSpPr>
          <p:cNvPr id="16" name="Text 14">
            <a:hlinkClick r:id="rId3" action="ppaction://hlinksldjump" tooltip="Go to the facilitator index"/>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facilitator index">
                  <a:extLst>
                    <a:ext uri="{A12FA001-AC4F-418D-AE19-62706E023703}">
                      <ahyp:hlinkClr xmlns:ahyp="http://schemas.microsoft.com/office/drawing/2018/hyperlinkcolor" val="tx"/>
                    </a:ext>
                  </a:extLst>
                </a:hlinkClick>
              </a:rPr>
              <a:t>INDEX</a:t>
            </a:r>
            <a:endParaRPr lang="en-US" sz="1100" dirty="0"/>
          </a:p>
        </p:txBody>
      </p:sp>
      <p:sp>
        <p:nvSpPr>
          <p:cNvPr id="17" name="Text 15"/>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I17 / 18</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85216" y="320040"/>
            <a:ext cx="9052560" cy="256032"/>
          </a:xfrm>
          <a:prstGeom prst="rect">
            <a:avLst/>
          </a:prstGeom>
          <a:noFill/>
          <a:ln/>
        </p:spPr>
        <p:txBody>
          <a:bodyPr wrap="square" lIns="0" tIns="0" rIns="0" bIns="0" rtlCol="0" anchor="t"/>
          <a:lstStyle/>
          <a:p>
            <a:pPr marL="0" indent="0">
              <a:buNone/>
            </a:pPr>
            <a:r>
              <a:rPr lang="en-US" altLang="en-US" sz="1150" b="1" kern="0" spc="150" dirty="0">
                <a:solidFill>
                  <a:srgbClr val="0F766E"/>
                </a:solidFill>
                <a:latin typeface="Segoe UI" pitchFamily="34" charset="0"/>
                <a:ea typeface="Segoe UI" pitchFamily="34" charset="-122"/>
                <a:cs typeface="Segoe UI" pitchFamily="34" charset="-120"/>
              </a:rPr>
              <a:t>FACILITATOR FIELD GUIDE</a:t>
            </a:r>
            <a:endParaRPr lang="en-US" sz="1150" dirty="0"/>
          </a:p>
        </p:txBody>
      </p:sp>
      <p:sp>
        <p:nvSpPr>
          <p:cNvPr id="3" name="I18 title"/>
          <p:cNvSpPr/>
          <p:nvPr/>
        </p:nvSpPr>
        <p:spPr>
          <a:xfrm>
            <a:off x="585216" y="795528"/>
            <a:ext cx="10991088" cy="1033272"/>
          </a:xfrm>
          <a:prstGeom prst="rect">
            <a:avLst/>
          </a:prstGeom>
          <a:noFill/>
          <a:ln/>
        </p:spPr>
        <p:txBody>
          <a:bodyPr wrap="square" lIns="0" tIns="0" rIns="0" bIns="0" rtlCol="0" anchor="t"/>
          <a:lstStyle/>
          <a:p>
            <a:pPr marL="0" indent="0">
              <a:buNone/>
            </a:pPr>
            <a:r>
              <a:rPr lang="en-US" altLang="en-US" sz="3600" b="1" dirty="0">
                <a:solidFill>
                  <a:srgbClr val="102A43"/>
                </a:solidFill>
                <a:latin typeface="Segoe UI" pitchFamily="34" charset="0"/>
                <a:ea typeface="Segoe UI" pitchFamily="34" charset="-122"/>
                <a:cs typeface="Segoe UI" pitchFamily="34" charset="-120"/>
              </a:rPr>
              <a:t>Close and reset the event</a:t>
            </a:r>
            <a:endParaRPr lang="en-US" sz="3600" dirty="0"/>
          </a:p>
        </p:txBody>
      </p:sp>
      <p:sp>
        <p:nvSpPr>
          <p:cNvPr id="4" name="Text 2"/>
          <p:cNvSpPr/>
          <p:nvPr/>
        </p:nvSpPr>
        <p:spPr>
          <a:xfrm>
            <a:off x="585216" y="1975104"/>
            <a:ext cx="10991088" cy="612648"/>
          </a:xfrm>
          <a:prstGeom prst="rect">
            <a:avLst/>
          </a:prstGeom>
          <a:noFill/>
          <a:ln/>
        </p:spPr>
        <p:txBody>
          <a:bodyPr wrap="square" lIns="0" tIns="0" rIns="0" bIns="0" rtlCol="0" anchor="t"/>
          <a:lstStyle/>
          <a:p>
            <a:pPr marL="0" indent="0">
              <a:buNone/>
            </a:pPr>
            <a:r>
              <a:rPr lang="en-US" altLang="en-US" sz="2400" dirty="0">
                <a:solidFill>
                  <a:srgbClr val="526779"/>
                </a:solidFill>
                <a:latin typeface="Segoe UI" pitchFamily="34" charset="0"/>
                <a:ea typeface="Segoe UI" pitchFamily="34" charset="-122"/>
                <a:cs typeface="Segoe UI" pitchFamily="34" charset="-120"/>
              </a:rPr>
              <a:t>Close the learning experience and the event state deliberately.</a:t>
            </a:r>
            <a:endParaRPr lang="en-US" sz="2400" dirty="0"/>
          </a:p>
        </p:txBody>
      </p:sp>
      <p:sp>
        <p:nvSpPr>
          <p:cNvPr id="5" name="Shape 3"/>
          <p:cNvSpPr/>
          <p:nvPr/>
        </p:nvSpPr>
        <p:spPr>
          <a:xfrm>
            <a:off x="3072384" y="3913632"/>
            <a:ext cx="301752" cy="0"/>
          </a:xfrm>
          <a:prstGeom prst="line">
            <a:avLst/>
          </a:prstGeom>
          <a:noFill/>
          <a:ln w="25400">
            <a:solidFill>
              <a:srgbClr val="0F766E"/>
            </a:solidFill>
            <a:prstDash val="solid"/>
            <a:headEnd type="none"/>
            <a:tailEnd type="triangle"/>
          </a:ln>
        </p:spPr>
      </p:sp>
      <p:sp>
        <p:nvSpPr>
          <p:cNvPr id="6" name="Shape 4"/>
          <p:cNvSpPr/>
          <p:nvPr/>
        </p:nvSpPr>
        <p:spPr>
          <a:xfrm>
            <a:off x="585216" y="2871216"/>
            <a:ext cx="2459736" cy="2715768"/>
          </a:xfrm>
          <a:prstGeom prst="roundRect">
            <a:avLst>
              <a:gd name="adj" fmla="val 4461"/>
            </a:avLst>
          </a:prstGeom>
          <a:solidFill>
            <a:srgbClr val="FFFFFF"/>
          </a:solidFill>
          <a:ln w="8890">
            <a:solidFill>
              <a:srgbClr val="D4DDD9"/>
            </a:solidFill>
            <a:prstDash val="solid"/>
          </a:ln>
        </p:spPr>
      </p:sp>
      <p:sp>
        <p:nvSpPr>
          <p:cNvPr id="7" name="Text 5"/>
          <p:cNvSpPr/>
          <p:nvPr/>
        </p:nvSpPr>
        <p:spPr>
          <a:xfrm>
            <a:off x="768096" y="3054096"/>
            <a:ext cx="2093976" cy="438912"/>
          </a:xfrm>
          <a:prstGeom prst="rect">
            <a:avLst/>
          </a:prstGeom>
          <a:noFill/>
          <a:ln/>
        </p:spPr>
        <p:txBody>
          <a:bodyPr wrap="square" lIns="0" tIns="0" rIns="0" bIns="0" rtlCol="0" anchor="t"/>
          <a:lstStyle/>
          <a:p>
            <a:pPr marL="0" indent="0">
              <a:buNone/>
            </a:pPr>
            <a:r>
              <a:rPr lang="en-US" altLang="en-US" sz="2600" b="1" dirty="0">
                <a:solidFill>
                  <a:srgbClr val="0F766E"/>
                </a:solidFill>
                <a:latin typeface="Segoe UI" pitchFamily="34" charset="0"/>
                <a:ea typeface="Segoe UI" pitchFamily="34" charset="-122"/>
                <a:cs typeface="Segoe UI" pitchFamily="34" charset="-120"/>
              </a:rPr>
              <a:t>01</a:t>
            </a:r>
            <a:endParaRPr lang="en-US" sz="2600" dirty="0"/>
          </a:p>
        </p:txBody>
      </p:sp>
      <p:sp>
        <p:nvSpPr>
          <p:cNvPr id="8" name="Text 6"/>
          <p:cNvSpPr/>
          <p:nvPr/>
        </p:nvSpPr>
        <p:spPr>
          <a:xfrm>
            <a:off x="768096" y="3767328"/>
            <a:ext cx="2093976" cy="475488"/>
          </a:xfrm>
          <a:prstGeom prst="rect">
            <a:avLst/>
          </a:prstGeom>
          <a:noFill/>
          <a:ln/>
        </p:spPr>
        <p:txBody>
          <a:bodyPr wrap="square" lIns="0" tIns="0" rIns="0" bIns="0" rtlCol="0" anchor="t"/>
          <a:lstStyle/>
          <a:p>
            <a:pPr marL="0" indent="0">
              <a:buNone/>
            </a:pPr>
            <a:r>
              <a:rPr lang="en-US" altLang="en-US" sz="2000" b="1" dirty="0">
                <a:solidFill>
                  <a:srgbClr val="102A43"/>
                </a:solidFill>
                <a:latin typeface="Segoe UI" pitchFamily="34" charset="0"/>
                <a:ea typeface="Segoe UI" pitchFamily="34" charset="-122"/>
                <a:cs typeface="Segoe UI" pitchFamily="34" charset="-120"/>
              </a:rPr>
              <a:t>END</a:t>
            </a:r>
            <a:endParaRPr lang="en-US" sz="2000" dirty="0"/>
          </a:p>
        </p:txBody>
      </p:sp>
      <p:sp>
        <p:nvSpPr>
          <p:cNvPr id="9" name="Text 7"/>
          <p:cNvSpPr/>
          <p:nvPr/>
        </p:nvSpPr>
        <p:spPr>
          <a:xfrm>
            <a:off x="768096" y="4315968"/>
            <a:ext cx="2093976" cy="1115568"/>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Close submissions properly</a:t>
            </a:r>
            <a:endParaRPr lang="en-US" sz="2300" dirty="0"/>
          </a:p>
        </p:txBody>
      </p:sp>
      <p:sp>
        <p:nvSpPr>
          <p:cNvPr id="10" name="Shape 8"/>
          <p:cNvSpPr/>
          <p:nvPr/>
        </p:nvSpPr>
        <p:spPr>
          <a:xfrm>
            <a:off x="5916168" y="3913632"/>
            <a:ext cx="301752" cy="0"/>
          </a:xfrm>
          <a:prstGeom prst="line">
            <a:avLst/>
          </a:prstGeom>
          <a:noFill/>
          <a:ln w="25400">
            <a:solidFill>
              <a:srgbClr val="0F766E"/>
            </a:solidFill>
            <a:prstDash val="solid"/>
            <a:headEnd type="none"/>
            <a:tailEnd type="triangle"/>
          </a:ln>
        </p:spPr>
      </p:sp>
      <p:sp>
        <p:nvSpPr>
          <p:cNvPr id="11" name="Shape 9"/>
          <p:cNvSpPr/>
          <p:nvPr/>
        </p:nvSpPr>
        <p:spPr>
          <a:xfrm>
            <a:off x="3429000" y="2871216"/>
            <a:ext cx="2459736" cy="2715768"/>
          </a:xfrm>
          <a:prstGeom prst="roundRect">
            <a:avLst>
              <a:gd name="adj" fmla="val 4461"/>
            </a:avLst>
          </a:prstGeom>
          <a:solidFill>
            <a:srgbClr val="FFFFFF"/>
          </a:solidFill>
          <a:ln w="8890">
            <a:solidFill>
              <a:srgbClr val="D4DDD9"/>
            </a:solidFill>
            <a:prstDash val="solid"/>
          </a:ln>
        </p:spPr>
      </p:sp>
      <p:sp>
        <p:nvSpPr>
          <p:cNvPr id="12" name="Text 10"/>
          <p:cNvSpPr/>
          <p:nvPr/>
        </p:nvSpPr>
        <p:spPr>
          <a:xfrm>
            <a:off x="3611880" y="3054096"/>
            <a:ext cx="2093976" cy="438912"/>
          </a:xfrm>
          <a:prstGeom prst="rect">
            <a:avLst/>
          </a:prstGeom>
          <a:noFill/>
          <a:ln/>
        </p:spPr>
        <p:txBody>
          <a:bodyPr wrap="square" lIns="0" tIns="0" rIns="0" bIns="0" rtlCol="0" anchor="t"/>
          <a:lstStyle/>
          <a:p>
            <a:pPr marL="0" indent="0">
              <a:buNone/>
            </a:pPr>
            <a:r>
              <a:rPr lang="en-US" altLang="en-US" sz="2600" b="1" dirty="0">
                <a:solidFill>
                  <a:srgbClr val="0F766E"/>
                </a:solidFill>
                <a:latin typeface="Segoe UI" pitchFamily="34" charset="0"/>
                <a:ea typeface="Segoe UI" pitchFamily="34" charset="-122"/>
                <a:cs typeface="Segoe UI" pitchFamily="34" charset="-120"/>
              </a:rPr>
              <a:t>02</a:t>
            </a:r>
            <a:endParaRPr lang="en-US" sz="2600" dirty="0"/>
          </a:p>
        </p:txBody>
      </p:sp>
      <p:sp>
        <p:nvSpPr>
          <p:cNvPr id="13" name="Text 11"/>
          <p:cNvSpPr/>
          <p:nvPr/>
        </p:nvSpPr>
        <p:spPr>
          <a:xfrm>
            <a:off x="3611880" y="3767328"/>
            <a:ext cx="2093976" cy="475488"/>
          </a:xfrm>
          <a:prstGeom prst="rect">
            <a:avLst/>
          </a:prstGeom>
          <a:noFill/>
          <a:ln/>
        </p:spPr>
        <p:txBody>
          <a:bodyPr wrap="square" lIns="0" tIns="0" rIns="0" bIns="0" rtlCol="0" anchor="t"/>
          <a:lstStyle/>
          <a:p>
            <a:pPr marL="0" indent="0">
              <a:buNone/>
            </a:pPr>
            <a:r>
              <a:rPr lang="en-US" altLang="en-US" sz="2000" b="1" dirty="0">
                <a:solidFill>
                  <a:srgbClr val="102A43"/>
                </a:solidFill>
                <a:latin typeface="Segoe UI" pitchFamily="34" charset="0"/>
                <a:ea typeface="Segoe UI" pitchFamily="34" charset="-122"/>
                <a:cs typeface="Segoe UI" pitchFamily="34" charset="-120"/>
              </a:rPr>
              <a:t>EXPORT</a:t>
            </a:r>
            <a:endParaRPr lang="en-US" sz="2000" dirty="0"/>
          </a:p>
        </p:txBody>
      </p:sp>
      <p:sp>
        <p:nvSpPr>
          <p:cNvPr id="14" name="Text 12"/>
          <p:cNvSpPr/>
          <p:nvPr/>
        </p:nvSpPr>
        <p:spPr>
          <a:xfrm>
            <a:off x="3611880" y="4315968"/>
            <a:ext cx="2093976" cy="1115568"/>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Keep appropriate results</a:t>
            </a:r>
            <a:endParaRPr lang="en-US" sz="2300" dirty="0"/>
          </a:p>
        </p:txBody>
      </p:sp>
      <p:sp>
        <p:nvSpPr>
          <p:cNvPr id="15" name="Shape 13"/>
          <p:cNvSpPr/>
          <p:nvPr/>
        </p:nvSpPr>
        <p:spPr>
          <a:xfrm>
            <a:off x="8759952" y="3913632"/>
            <a:ext cx="301752" cy="0"/>
          </a:xfrm>
          <a:prstGeom prst="line">
            <a:avLst/>
          </a:prstGeom>
          <a:noFill/>
          <a:ln w="25400">
            <a:solidFill>
              <a:srgbClr val="0F766E"/>
            </a:solidFill>
            <a:prstDash val="solid"/>
            <a:headEnd type="none"/>
            <a:tailEnd type="triangle"/>
          </a:ln>
        </p:spPr>
      </p:sp>
      <p:sp>
        <p:nvSpPr>
          <p:cNvPr id="16" name="Shape 14"/>
          <p:cNvSpPr/>
          <p:nvPr/>
        </p:nvSpPr>
        <p:spPr>
          <a:xfrm>
            <a:off x="6272784" y="2871216"/>
            <a:ext cx="2459736" cy="2715768"/>
          </a:xfrm>
          <a:prstGeom prst="roundRect">
            <a:avLst>
              <a:gd name="adj" fmla="val 4461"/>
            </a:avLst>
          </a:prstGeom>
          <a:solidFill>
            <a:srgbClr val="FFFFFF"/>
          </a:solidFill>
          <a:ln w="8890">
            <a:solidFill>
              <a:srgbClr val="D4DDD9"/>
            </a:solidFill>
            <a:prstDash val="solid"/>
          </a:ln>
        </p:spPr>
      </p:sp>
      <p:sp>
        <p:nvSpPr>
          <p:cNvPr id="17" name="Text 15"/>
          <p:cNvSpPr/>
          <p:nvPr/>
        </p:nvSpPr>
        <p:spPr>
          <a:xfrm>
            <a:off x="6455664" y="3054096"/>
            <a:ext cx="2093976" cy="438912"/>
          </a:xfrm>
          <a:prstGeom prst="rect">
            <a:avLst/>
          </a:prstGeom>
          <a:noFill/>
          <a:ln/>
        </p:spPr>
        <p:txBody>
          <a:bodyPr wrap="square" lIns="0" tIns="0" rIns="0" bIns="0" rtlCol="0" anchor="t"/>
          <a:lstStyle/>
          <a:p>
            <a:pPr marL="0" indent="0">
              <a:buNone/>
            </a:pPr>
            <a:r>
              <a:rPr lang="en-US" altLang="en-US" sz="2600" b="1" dirty="0">
                <a:solidFill>
                  <a:srgbClr val="0F766E"/>
                </a:solidFill>
                <a:latin typeface="Segoe UI" pitchFamily="34" charset="0"/>
                <a:ea typeface="Segoe UI" pitchFamily="34" charset="-122"/>
                <a:cs typeface="Segoe UI" pitchFamily="34" charset="-120"/>
              </a:rPr>
              <a:t>03</a:t>
            </a:r>
            <a:endParaRPr lang="en-US" sz="2600" dirty="0"/>
          </a:p>
        </p:txBody>
      </p:sp>
      <p:sp>
        <p:nvSpPr>
          <p:cNvPr id="18" name="Text 16"/>
          <p:cNvSpPr/>
          <p:nvPr/>
        </p:nvSpPr>
        <p:spPr>
          <a:xfrm>
            <a:off x="6455664" y="3767328"/>
            <a:ext cx="2093976" cy="475488"/>
          </a:xfrm>
          <a:prstGeom prst="rect">
            <a:avLst/>
          </a:prstGeom>
          <a:noFill/>
          <a:ln/>
        </p:spPr>
        <p:txBody>
          <a:bodyPr wrap="square" lIns="0" tIns="0" rIns="0" bIns="0" rtlCol="0" anchor="t"/>
          <a:lstStyle/>
          <a:p>
            <a:pPr marL="0" indent="0">
              <a:buNone/>
            </a:pPr>
            <a:r>
              <a:rPr lang="en-US" altLang="en-US" sz="2000" b="1" dirty="0">
                <a:solidFill>
                  <a:srgbClr val="102A43"/>
                </a:solidFill>
                <a:latin typeface="Segoe UI" pitchFamily="34" charset="0"/>
                <a:ea typeface="Segoe UI" pitchFamily="34" charset="-122"/>
                <a:cs typeface="Segoe UI" pitchFamily="34" charset="-120"/>
              </a:rPr>
              <a:t>CLEAN</a:t>
            </a:r>
            <a:endParaRPr lang="en-US" sz="2000" dirty="0"/>
          </a:p>
        </p:txBody>
      </p:sp>
      <p:sp>
        <p:nvSpPr>
          <p:cNvPr id="19" name="Text 17"/>
          <p:cNvSpPr/>
          <p:nvPr/>
        </p:nvSpPr>
        <p:spPr>
          <a:xfrm>
            <a:off x="6455664" y="4315968"/>
            <a:ext cx="2093976" cy="1115568"/>
          </a:xfrm>
          <a:prstGeom prst="rect">
            <a:avLst/>
          </a:prstGeom>
          <a:noFill/>
          <a:ln/>
        </p:spPr>
        <p:txBody>
          <a:bodyPr wrap="square" lIns="0" tIns="0" rIns="0" bIns="0" rtlCol="0" anchor="t"/>
          <a:lstStyle/>
          <a:p>
            <a:pPr marL="0" indent="0">
              <a:buNone/>
            </a:pPr>
            <a:r>
              <a:rPr lang="en-US" altLang="en-US" sz="2300" dirty="0">
                <a:solidFill>
                  <a:srgbClr val="526779"/>
                </a:solidFill>
                <a:latin typeface="Segoe UI" pitchFamily="34" charset="0"/>
                <a:ea typeface="Segoe UI" pitchFamily="34" charset="-122"/>
                <a:cs typeface="Segoe UI" pitchFamily="34" charset="-120"/>
              </a:rPr>
              <a:t>Handle local artifacts safely</a:t>
            </a:r>
            <a:endParaRPr lang="en-US" sz="2300" dirty="0"/>
          </a:p>
        </p:txBody>
      </p:sp>
      <p:sp>
        <p:nvSpPr>
          <p:cNvPr id="20" name="Shape 18"/>
          <p:cNvSpPr/>
          <p:nvPr/>
        </p:nvSpPr>
        <p:spPr>
          <a:xfrm>
            <a:off x="9116568" y="2871216"/>
            <a:ext cx="2459736" cy="2715768"/>
          </a:xfrm>
          <a:prstGeom prst="roundRect">
            <a:avLst>
              <a:gd name="adj" fmla="val 4461"/>
            </a:avLst>
          </a:prstGeom>
          <a:solidFill>
            <a:srgbClr val="102A43"/>
          </a:solidFill>
          <a:ln w="8890">
            <a:solidFill>
              <a:srgbClr val="D4DDD9"/>
            </a:solidFill>
            <a:prstDash val="solid"/>
          </a:ln>
        </p:spPr>
      </p:sp>
      <p:sp>
        <p:nvSpPr>
          <p:cNvPr id="21" name="Text 19"/>
          <p:cNvSpPr/>
          <p:nvPr/>
        </p:nvSpPr>
        <p:spPr>
          <a:xfrm>
            <a:off x="9299448" y="3054096"/>
            <a:ext cx="2093976" cy="438912"/>
          </a:xfrm>
          <a:prstGeom prst="rect">
            <a:avLst/>
          </a:prstGeom>
          <a:noFill/>
          <a:ln/>
        </p:spPr>
        <p:txBody>
          <a:bodyPr wrap="square" lIns="0" tIns="0" rIns="0" bIns="0" rtlCol="0" anchor="t"/>
          <a:lstStyle/>
          <a:p>
            <a:pPr marL="0" indent="0">
              <a:buNone/>
            </a:pPr>
            <a:r>
              <a:rPr lang="en-US" altLang="en-US" sz="2600" b="1" dirty="0">
                <a:solidFill>
                  <a:srgbClr val="5EEAD4"/>
                </a:solidFill>
                <a:latin typeface="Segoe UI" pitchFamily="34" charset="0"/>
                <a:ea typeface="Segoe UI" pitchFamily="34" charset="-122"/>
                <a:cs typeface="Segoe UI" pitchFamily="34" charset="-120"/>
              </a:rPr>
              <a:t>04</a:t>
            </a:r>
            <a:endParaRPr lang="en-US" sz="2600" dirty="0"/>
          </a:p>
        </p:txBody>
      </p:sp>
      <p:sp>
        <p:nvSpPr>
          <p:cNvPr id="22" name="Text 20"/>
          <p:cNvSpPr/>
          <p:nvPr/>
        </p:nvSpPr>
        <p:spPr>
          <a:xfrm>
            <a:off x="9299448" y="3767328"/>
            <a:ext cx="2093976" cy="475488"/>
          </a:xfrm>
          <a:prstGeom prst="rect">
            <a:avLst/>
          </a:prstGeom>
          <a:noFill/>
          <a:ln/>
        </p:spPr>
        <p:txBody>
          <a:bodyPr wrap="square" lIns="0" tIns="0" rIns="0" bIns="0" rtlCol="0" anchor="t"/>
          <a:lstStyle/>
          <a:p>
            <a:pPr marL="0" indent="0">
              <a:buNone/>
            </a:pPr>
            <a:r>
              <a:rPr lang="en-US" altLang="en-US" sz="2000" b="1" dirty="0">
                <a:solidFill>
                  <a:srgbClr val="FFFFFF"/>
                </a:solidFill>
                <a:latin typeface="Segoe UI" pitchFamily="34" charset="0"/>
                <a:ea typeface="Segoe UI" pitchFamily="34" charset="-122"/>
                <a:cs typeface="Segoe UI" pitchFamily="34" charset="-120"/>
              </a:rPr>
              <a:t>RESET</a:t>
            </a:r>
            <a:endParaRPr lang="en-US" sz="2000" dirty="0"/>
          </a:p>
        </p:txBody>
      </p:sp>
      <p:sp>
        <p:nvSpPr>
          <p:cNvPr id="23" name="Text 21"/>
          <p:cNvSpPr/>
          <p:nvPr/>
        </p:nvSpPr>
        <p:spPr>
          <a:xfrm>
            <a:off x="9299448" y="4315968"/>
            <a:ext cx="2093976" cy="1115568"/>
          </a:xfrm>
          <a:prstGeom prst="rect">
            <a:avLst/>
          </a:prstGeom>
          <a:noFill/>
          <a:ln/>
        </p:spPr>
        <p:txBody>
          <a:bodyPr wrap="square" lIns="0" tIns="0" rIns="0" bIns="0" rtlCol="0" anchor="t"/>
          <a:lstStyle/>
          <a:p>
            <a:pPr marL="0" indent="0">
              <a:buNone/>
            </a:pPr>
            <a:r>
              <a:rPr lang="en-US" altLang="en-US" sz="2300" dirty="0">
                <a:solidFill>
                  <a:srgbClr val="C9D8E2"/>
                </a:solidFill>
                <a:latin typeface="Segoe UI" pitchFamily="34" charset="0"/>
                <a:ea typeface="Segoe UI" pitchFamily="34" charset="-122"/>
                <a:cs typeface="Segoe UI" pitchFamily="34" charset="-120"/>
              </a:rPr>
              <a:t>Prepare the next delivery</a:t>
            </a:r>
            <a:endParaRPr lang="en-US" sz="2300" dirty="0"/>
          </a:p>
        </p:txBody>
      </p:sp>
      <p:sp>
        <p:nvSpPr>
          <p:cNvPr id="24" name="Shape 22"/>
          <p:cNvSpPr/>
          <p:nvPr/>
        </p:nvSpPr>
        <p:spPr>
          <a:xfrm>
            <a:off x="585216" y="5824728"/>
            <a:ext cx="10991088" cy="502920"/>
          </a:xfrm>
          <a:prstGeom prst="rect">
            <a:avLst/>
          </a:prstGeom>
          <a:solidFill>
            <a:srgbClr val="E5EEEB"/>
          </a:solidFill>
          <a:ln w="8890">
            <a:solidFill>
              <a:srgbClr val="E5EEEB"/>
            </a:solidFill>
            <a:prstDash val="solid"/>
          </a:ln>
        </p:spPr>
      </p:sp>
      <p:sp>
        <p:nvSpPr>
          <p:cNvPr id="25" name="Text 23"/>
          <p:cNvSpPr/>
          <p:nvPr/>
        </p:nvSpPr>
        <p:spPr>
          <a:xfrm>
            <a:off x="731520" y="5916168"/>
            <a:ext cx="10698480" cy="292608"/>
          </a:xfrm>
          <a:prstGeom prst="rect">
            <a:avLst/>
          </a:prstGeom>
          <a:noFill/>
          <a:ln/>
        </p:spPr>
        <p:txBody>
          <a:bodyPr wrap="square" lIns="0" tIns="0" rIns="0" bIns="0" rtlCol="0" anchor="t"/>
          <a:lstStyle/>
          <a:p>
            <a:pPr marL="0" indent="0">
              <a:buNone/>
            </a:pPr>
            <a:r>
              <a:rPr lang="en-US" altLang="en-US" sz="1850" b="1" dirty="0">
                <a:solidFill>
                  <a:srgbClr val="0F766E"/>
                </a:solidFill>
                <a:latin typeface="Segoe UI" pitchFamily="34" charset="0"/>
                <a:ea typeface="Segoe UI" pitchFamily="34" charset="-122"/>
                <a:cs typeface="Segoe UI" pitchFamily="34" charset="-120"/>
              </a:rPr>
              <a:t>Distribute the public deck only. Videos remain a later production stage.</a:t>
            </a:r>
            <a:endParaRPr lang="en-US" sz="1850" dirty="0"/>
          </a:p>
        </p:txBody>
      </p:sp>
      <p:sp>
        <p:nvSpPr>
          <p:cNvPr id="26" name="Text 24"/>
          <p:cNvSpPr/>
          <p:nvPr/>
        </p:nvSpPr>
        <p:spPr>
          <a:xfrm>
            <a:off x="585216" y="6492240"/>
            <a:ext cx="6217920" cy="182880"/>
          </a:xfrm>
          <a:prstGeom prst="rect">
            <a:avLst/>
          </a:prstGeom>
          <a:noFill/>
          <a:ln/>
        </p:spPr>
        <p:txBody>
          <a:bodyPr wrap="square" lIns="0" tIns="0" rIns="0" bIns="0" rtlCol="0" anchor="t"/>
          <a:lstStyle/>
          <a:p>
            <a:pPr marL="0" indent="0">
              <a:buNone/>
            </a:pPr>
            <a:r>
              <a:rPr lang="en-US" altLang="en-US" sz="1050" kern="0" spc="110" dirty="0">
                <a:solidFill>
                  <a:srgbClr val="526779"/>
                </a:solidFill>
                <a:latin typeface="Segoe UI" pitchFamily="34" charset="0"/>
                <a:ea typeface="Segoe UI" pitchFamily="34" charset="-122"/>
                <a:cs typeface="Segoe UI" pitchFamily="34" charset="-120"/>
              </a:rPr>
              <a:t>FACILITATOR ONLY / DO NOT PROJECT</a:t>
            </a:r>
            <a:endParaRPr lang="en-US" sz="1050" dirty="0"/>
          </a:p>
        </p:txBody>
      </p:sp>
      <p:sp>
        <p:nvSpPr>
          <p:cNvPr id="27" name="Text 25">
            <a:hlinkClick r:id="rId3" action="ppaction://hlinksldjump" tooltip="Go to the facilitator index"/>
          </p:cNvPr>
          <p:cNvSpPr/>
          <p:nvPr/>
        </p:nvSpPr>
        <p:spPr>
          <a:xfrm>
            <a:off x="9262872" y="6473952"/>
            <a:ext cx="941832" cy="228600"/>
          </a:xfrm>
          <a:prstGeom prst="rect">
            <a:avLst/>
          </a:prstGeom>
          <a:noFill/>
          <a:ln/>
        </p:spPr>
        <p:txBody>
          <a:bodyPr wrap="square" lIns="0" tIns="0" rIns="0" bIns="0" rtlCol="0" anchor="t"/>
          <a:lstStyle/>
          <a:p>
            <a:pPr marL="0" indent="0" algn="r">
              <a:buNone/>
            </a:pPr>
            <a:r>
              <a:rPr lang="en-US" altLang="en-US" sz="1100" u="sng" dirty="0">
                <a:solidFill>
                  <a:srgbClr val="526779"/>
                </a:solidFill>
                <a:latin typeface="Segoe UI" pitchFamily="34" charset="0"/>
                <a:ea typeface="Segoe UI" pitchFamily="34" charset="-122"/>
                <a:cs typeface="Segoe UI" pitchFamily="34" charset="-120"/>
                <a:hlinkClick r:id="rId3" action="ppaction://hlinksldjump" tooltip="Go to the facilitator index">
                  <a:extLst>
                    <a:ext uri="{A12FA001-AC4F-418D-AE19-62706E023703}">
                      <ahyp:hlinkClr xmlns:ahyp="http://schemas.microsoft.com/office/drawing/2018/hyperlinkcolor" val="tx"/>
                    </a:ext>
                  </a:extLst>
                </a:hlinkClick>
              </a:rPr>
              <a:t>INDEX</a:t>
            </a:r>
            <a:endParaRPr lang="en-US" sz="1100" dirty="0"/>
          </a:p>
        </p:txBody>
      </p:sp>
      <p:sp>
        <p:nvSpPr>
          <p:cNvPr id="28" name="Text 26"/>
          <p:cNvSpPr/>
          <p:nvPr/>
        </p:nvSpPr>
        <p:spPr>
          <a:xfrm>
            <a:off x="10744200" y="6473952"/>
            <a:ext cx="841248" cy="219456"/>
          </a:xfrm>
          <a:prstGeom prst="rect">
            <a:avLst/>
          </a:prstGeom>
          <a:noFill/>
          <a:ln/>
        </p:spPr>
        <p:txBody>
          <a:bodyPr wrap="square" lIns="0" tIns="0" rIns="0" bIns="0" rtlCol="0" anchor="t"/>
          <a:lstStyle/>
          <a:p>
            <a:pPr marL="0" indent="0" algn="r">
              <a:buNone/>
            </a:pPr>
            <a:r>
              <a:rPr lang="en-US" altLang="en-US" sz="1100" dirty="0">
                <a:solidFill>
                  <a:srgbClr val="526779"/>
                </a:solidFill>
                <a:latin typeface="Segoe UI" pitchFamily="34" charset="0"/>
                <a:ea typeface="Segoe UI" pitchFamily="34" charset="-122"/>
                <a:cs typeface="Segoe UI" pitchFamily="34" charset="-120"/>
              </a:rPr>
              <a:t>I18 / 18</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4570</Words>
  <Application>Microsoft Office PowerPoint</Application>
  <PresentationFormat>Widescreen</PresentationFormat>
  <Paragraphs>332</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Copilot Agent Mission Control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Operation Lighthouse - Facilitator Guide</dc:title>
  <dc:subject>Private facilitator guide for the Operation Lighthouse workshop</dc:subject>
  <dc:creator>Copilot Agent Mission Control</dc:creator>
  <cp:lastModifiedBy>Copilot Agent Mission Control</cp:lastModifiedBy>
  <cp:revision>1</cp:revision>
  <dcterms:created xsi:type="dcterms:W3CDTF">2026-09-29T01:14:38Z</dcterms:created>
  <dcterms:modified xsi:type="dcterms:W3CDTF">2026-09-29T01:14:41Z</dcterms:modified>
</cp:coreProperties>
</file>